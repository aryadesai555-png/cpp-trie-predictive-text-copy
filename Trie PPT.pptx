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40"/>
  </p:normalViewPr>
  <p:slideViewPr>
    <p:cSldViewPr snapToGrid="0" snapToObjects="1">
      <p:cViewPr varScale="1">
        <p:scale>
          <a:sx n="111" d="100"/>
          <a:sy n="111" d="100"/>
        </p:scale>
        <p:origin x="656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739F2-E296-DF42-A218-35B9EF6D13E1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76A18-CA99-8945-B7C1-B80D95E41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498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476A18-CA99-8945-B7C1-B80D95E411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2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1097280"/>
            <a:ext cx="502920" cy="502920"/>
          </a:xfrm>
          <a:prstGeom prst="ellipse">
            <a:avLst/>
          </a:prstGeom>
          <a:solidFill>
            <a:srgbClr val="3A86C4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" name="Oval 2"/>
          <p:cNvSpPr/>
          <p:nvPr/>
        </p:nvSpPr>
        <p:spPr>
          <a:xfrm>
            <a:off x="10241280" y="1828800"/>
            <a:ext cx="502920" cy="502920"/>
          </a:xfrm>
          <a:prstGeom prst="ellipse">
            <a:avLst/>
          </a:prstGeom>
          <a:solidFill>
            <a:srgbClr val="3A86C4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4" name="Oval 3"/>
          <p:cNvSpPr/>
          <p:nvPr/>
        </p:nvSpPr>
        <p:spPr>
          <a:xfrm>
            <a:off x="11155680" y="2560320"/>
            <a:ext cx="502920" cy="502920"/>
          </a:xfrm>
          <a:prstGeom prst="ellipse">
            <a:avLst/>
          </a:prstGeom>
          <a:solidFill>
            <a:srgbClr val="226392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5" name="Oval 4"/>
          <p:cNvSpPr/>
          <p:nvPr/>
        </p:nvSpPr>
        <p:spPr>
          <a:xfrm>
            <a:off x="10241280" y="3474720"/>
            <a:ext cx="502920" cy="502920"/>
          </a:xfrm>
          <a:prstGeom prst="ellipse">
            <a:avLst/>
          </a:prstGeom>
          <a:solidFill>
            <a:srgbClr val="3A86C4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6" name="Oval 5"/>
          <p:cNvSpPr/>
          <p:nvPr/>
        </p:nvSpPr>
        <p:spPr>
          <a:xfrm>
            <a:off x="11155680" y="4297680"/>
            <a:ext cx="502920" cy="502920"/>
          </a:xfrm>
          <a:prstGeom prst="ellipse">
            <a:avLst/>
          </a:prstGeom>
          <a:solidFill>
            <a:srgbClr val="226392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738360" y="1508760"/>
            <a:ext cx="502920" cy="320040"/>
          </a:xfrm>
          <a:prstGeom prst="line">
            <a:avLst/>
          </a:prstGeom>
          <a:ln w="22860">
            <a:solidFill>
              <a:srgbClr val="ABC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652760" y="2240280"/>
            <a:ext cx="502920" cy="320040"/>
          </a:xfrm>
          <a:prstGeom prst="line">
            <a:avLst/>
          </a:prstGeom>
          <a:ln w="22860">
            <a:solidFill>
              <a:srgbClr val="ABC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69880" y="3063240"/>
            <a:ext cx="886968" cy="411480"/>
          </a:xfrm>
          <a:prstGeom prst="line">
            <a:avLst/>
          </a:prstGeom>
          <a:ln w="22860">
            <a:solidFill>
              <a:srgbClr val="ABC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652760" y="3886200"/>
            <a:ext cx="502920" cy="411480"/>
          </a:xfrm>
          <a:prstGeom prst="line">
            <a:avLst/>
          </a:prstGeom>
          <a:ln w="22860">
            <a:solidFill>
              <a:srgbClr val="ABC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1097280"/>
            <a:ext cx="71323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1">
                <a:solidFill>
                  <a:srgbClr val="7DD3FC"/>
                </a:solidFill>
                <a:latin typeface="Aptos"/>
              </a:defRPr>
            </a:pPr>
            <a:r>
              <a:t>TRIE-BASED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4466"/>
            <a:ext cx="804672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Aptos"/>
              </a:defRPr>
            </a:pPr>
            <a:r>
              <a:rPr dirty="0"/>
              <a:t>Predictive Text &amp;</a:t>
            </a:r>
            <a:br>
              <a:rPr dirty="0"/>
            </a:br>
            <a:r>
              <a:rPr dirty="0"/>
              <a:t>Autocomplete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74920"/>
            <a:ext cx="8961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ABC0D6"/>
                </a:solidFill>
                <a:latin typeface="Aptos"/>
              </a:defRPr>
            </a:pPr>
            <a:r>
              <a:t>Arya Shaileshbhai Desai  •  Concordia University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53212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BC0D6"/>
                </a:solidFill>
                <a:latin typeface="Aptos"/>
              </a:defRPr>
            </a:pPr>
            <a:r>
              <a:t>Instructor: Dr. Victor Govindaswamy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What Is a Trie?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BC0D6"/>
                </a:solidFill>
                <a:latin typeface="Aptos"/>
              </a:defRPr>
            </a:pPr>
            <a:r>
              <a:t>A tree-shaped structure for storing and finding strings.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ABC0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577840" cy="3931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E1ECF7"/>
                </a:solidFill>
                <a:latin typeface="Aptos"/>
              </a:defRPr>
            </a:pPr>
            <a:r>
              <a:t>•  Each node represents a character step in a word.</a:t>
            </a:r>
          </a:p>
          <a:p>
            <a:pPr>
              <a:spcAft>
                <a:spcPts val="1200"/>
              </a:spcAft>
              <a:defRPr sz="1900">
                <a:solidFill>
                  <a:srgbClr val="E1ECF7"/>
                </a:solidFill>
                <a:latin typeface="Aptos"/>
              </a:defRPr>
            </a:pPr>
            <a:r>
              <a:t>•  Words with the same beginning share a path.</a:t>
            </a:r>
          </a:p>
          <a:p>
            <a:pPr>
              <a:spcAft>
                <a:spcPts val="1200"/>
              </a:spcAft>
              <a:defRPr sz="1900">
                <a:solidFill>
                  <a:srgbClr val="E1ECF7"/>
                </a:solidFill>
                <a:latin typeface="Aptos"/>
              </a:defRPr>
            </a:pPr>
            <a:r>
              <a:t>•  A word-ending marker distinguishes a complete word from a prefix.</a:t>
            </a:r>
          </a:p>
          <a:p>
            <a:pPr>
              <a:spcAft>
                <a:spcPts val="1200"/>
              </a:spcAft>
              <a:defRPr sz="1900">
                <a:solidFill>
                  <a:srgbClr val="E1ECF7"/>
                </a:solidFill>
                <a:latin typeface="Aptos"/>
              </a:defRPr>
            </a:pPr>
            <a:r>
              <a:t>•  This implementation uses 26 child pointers for letters a–z.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783080"/>
            <a:ext cx="49377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7DD3FC"/>
                </a:solidFill>
                <a:latin typeface="Aptos"/>
              </a:defRPr>
            </a:pPr>
            <a:r>
              <a:t>Example prefix path:  c → o → m → p</a:t>
            </a:r>
          </a:p>
        </p:txBody>
      </p:sp>
      <p:sp>
        <p:nvSpPr>
          <p:cNvPr id="8" name="Oval 7"/>
          <p:cNvSpPr/>
          <p:nvPr/>
        </p:nvSpPr>
        <p:spPr>
          <a:xfrm>
            <a:off x="6903720" y="2606040"/>
            <a:ext cx="530352" cy="530352"/>
          </a:xfrm>
          <a:prstGeom prst="ellipse">
            <a:avLst/>
          </a:prstGeom>
          <a:solidFill>
            <a:srgbClr val="236696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606040"/>
            <a:ext cx="530352" cy="530352"/>
          </a:xfrm>
          <a:prstGeom prst="ellipse">
            <a:avLst/>
          </a:prstGeom>
          <a:solidFill>
            <a:srgbClr val="236696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34071" y="2871216"/>
            <a:ext cx="384049" cy="0"/>
          </a:xfrm>
          <a:prstGeom prst="line">
            <a:avLst/>
          </a:prstGeom>
          <a:ln w="2540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732520" y="2606040"/>
            <a:ext cx="530352" cy="530352"/>
          </a:xfrm>
          <a:prstGeom prst="ellipse">
            <a:avLst/>
          </a:prstGeom>
          <a:solidFill>
            <a:srgbClr val="236696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48472" y="2871216"/>
            <a:ext cx="384048" cy="0"/>
          </a:xfrm>
          <a:prstGeom prst="line">
            <a:avLst/>
          </a:prstGeom>
          <a:ln w="2540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646920" y="2606040"/>
            <a:ext cx="530352" cy="530352"/>
          </a:xfrm>
          <a:prstGeom prst="ellipse">
            <a:avLst/>
          </a:prstGeom>
          <a:solidFill>
            <a:srgbClr val="236696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62872" y="2871216"/>
            <a:ext cx="384048" cy="0"/>
          </a:xfrm>
          <a:prstGeom prst="line">
            <a:avLst/>
          </a:prstGeom>
          <a:ln w="2540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561320" y="1874519"/>
            <a:ext cx="530352" cy="530352"/>
          </a:xfrm>
          <a:prstGeom prst="ellipse">
            <a:avLst/>
          </a:prstGeom>
          <a:solidFill>
            <a:srgbClr val="236696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u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0177272" y="2404872"/>
            <a:ext cx="566928" cy="338328"/>
          </a:xfrm>
          <a:prstGeom prst="line">
            <a:avLst/>
          </a:prstGeom>
          <a:ln w="2540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561320" y="3154680"/>
            <a:ext cx="530352" cy="530352"/>
          </a:xfrm>
          <a:prstGeom prst="ellipse">
            <a:avLst/>
          </a:prstGeom>
          <a:solidFill>
            <a:srgbClr val="236696"/>
          </a:solidFill>
          <a:ln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77272" y="2834640"/>
            <a:ext cx="566928" cy="320040"/>
          </a:xfrm>
          <a:prstGeom prst="line">
            <a:avLst/>
          </a:prstGeom>
          <a:ln w="2540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0" y="3794760"/>
            <a:ext cx="2286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FACC15"/>
                </a:solidFill>
                <a:latin typeface="Aptos"/>
              </a:defRPr>
            </a:pPr>
            <a:r>
              <a:t>Shared prefix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224528"/>
            <a:ext cx="42976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1ECF7"/>
                </a:solidFill>
                <a:latin typeface="Aptos"/>
              </a:defRPr>
            </a:pPr>
            <a:r>
              <a:t>Words can branch after the common characters.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166360"/>
            <a:ext cx="4389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100" b="0">
                <a:solidFill>
                  <a:srgbClr val="ABC0D6"/>
                </a:solidFill>
                <a:latin typeface="Aptos"/>
              </a:defRPr>
            </a:pPr>
            <a:r>
              <a:rPr dirty="0"/>
              <a:t>Illustration is simplified; full words continue beyond these nodes.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How Prefix Matching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BC0D6"/>
                </a:solidFill>
                <a:latin typeface="Aptos"/>
              </a:defRPr>
            </a:pPr>
            <a:r>
              <a:t>The prefix “comp” narrows the search to words that begin with those letters.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ABC0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37560" cy="137160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352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7DD3FC"/>
                </a:solidFill>
                <a:latin typeface="Aptos"/>
              </a:defRPr>
            </a:pPr>
            <a:r>
              <a:t>Stored 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2935224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0">
                <a:solidFill>
                  <a:srgbClr val="E1ECF7"/>
                </a:solidFill>
                <a:latin typeface="Aptos"/>
              </a:defRPr>
            </a:pPr>
            <a:r>
              <a:t>computer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37560" cy="137160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993392"/>
            <a:ext cx="29352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86EFAC"/>
                </a:solidFill>
                <a:latin typeface="Aptos"/>
              </a:defRPr>
            </a:pPr>
            <a:r>
              <a:t>Stored 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487168"/>
            <a:ext cx="2935224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0">
                <a:solidFill>
                  <a:srgbClr val="E1ECF7"/>
                </a:solidFill>
                <a:latin typeface="Aptos"/>
              </a:defRPr>
            </a:pPr>
            <a:r>
              <a:t>compute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337560" cy="137160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993392"/>
            <a:ext cx="29352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Stored 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487168"/>
            <a:ext cx="2935224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0">
                <a:solidFill>
                  <a:srgbClr val="E1ECF7"/>
                </a:solidFill>
                <a:latin typeface="Aptos"/>
              </a:defRPr>
            </a:pPr>
            <a:r>
              <a:t>computing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2103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ABC0D6"/>
                </a:solidFill>
                <a:latin typeface="Aptos"/>
              </a:defRPr>
            </a:pPr>
            <a:r>
              <a:t>Prefix entered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2103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000" b="1">
                <a:solidFill>
                  <a:srgbClr val="7DD3FC"/>
                </a:solidFill>
                <a:latin typeface="Aptos"/>
              </a:defRPr>
            </a:pPr>
            <a:r>
              <a:t>comp</a:t>
            </a:r>
          </a:p>
        </p:txBody>
      </p:sp>
      <p:sp>
        <p:nvSpPr>
          <p:cNvPr id="17" name="Chevron 16"/>
          <p:cNvSpPr/>
          <p:nvPr/>
        </p:nvSpPr>
        <p:spPr>
          <a:xfrm>
            <a:off x="3291840" y="4224528"/>
            <a:ext cx="914400" cy="594360"/>
          </a:xfrm>
          <a:prstGeom prst="chevron">
            <a:avLst/>
          </a:prstGeom>
          <a:solidFill>
            <a:srgbClr val="3A8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977639"/>
            <a:ext cx="5943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ptos"/>
              </a:defRPr>
            </a:pPr>
            <a:r>
              <a:t>Return words with that prefix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526280"/>
            <a:ext cx="5943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E1ECF7"/>
                </a:solidFill>
                <a:latin typeface="Aptos"/>
              </a:defRPr>
            </a:pPr>
            <a:r>
              <a:t>Autocomplete is prefix lookup plus collecting the matching 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C++ Application: Main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BC0D6"/>
                </a:solidFill>
                <a:latin typeface="Aptos"/>
              </a:defRPr>
            </a:pPr>
            <a:r>
              <a:t>A menu-based program for interacting with the Trie.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ABC0D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141732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02666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7DD3FC"/>
                </a:solidFill>
                <a:latin typeface="Aptos"/>
              </a:defRPr>
            </a:pPr>
            <a:r>
              <a:t>Add 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87168"/>
            <a:ext cx="3026664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1ECF7"/>
                </a:solidFill>
                <a:latin typeface="Aptos"/>
              </a:defRPr>
            </a:pPr>
            <a:r>
              <a:t>Insert a word into the Trie.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828800"/>
            <a:ext cx="3429000" cy="141732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59" y="1993392"/>
            <a:ext cx="302666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7DD3FC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487168"/>
            <a:ext cx="3026664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1ECF7"/>
                </a:solidFill>
                <a:latin typeface="Aptos"/>
              </a:defRPr>
            </a:pPr>
            <a:r>
              <a:t>Check whether an exact word exists.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0183" y="1828800"/>
            <a:ext cx="3429000" cy="141732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31352" y="1993392"/>
            <a:ext cx="302666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7DD3FC"/>
                </a:solidFill>
                <a:latin typeface="Aptos"/>
              </a:defRPr>
            </a:pPr>
            <a:r>
              <a:t>Autocomplete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487168"/>
            <a:ext cx="3026664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1ECF7"/>
                </a:solidFill>
                <a:latin typeface="Aptos"/>
              </a:defRPr>
            </a:pPr>
            <a:r>
              <a:t>List words matching a prefix.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3429000" cy="141732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867911"/>
            <a:ext cx="302666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86EFAC"/>
                </a:solidFill>
                <a:latin typeface="Aptos"/>
              </a:defRPr>
            </a:pPr>
            <a:r>
              <a:t>Display 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61688"/>
            <a:ext cx="3026664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1ECF7"/>
                </a:solidFill>
                <a:latin typeface="Aptos"/>
              </a:defRPr>
            </a:pPr>
            <a:r>
              <a:t>Show all stored words.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07992" y="3703320"/>
            <a:ext cx="3429000" cy="141732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59" y="3867911"/>
            <a:ext cx="302666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86EFAC"/>
                </a:solidFill>
                <a:latin typeface="Aptos"/>
              </a:defRPr>
            </a:pPr>
            <a:r>
              <a:t>Remove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361688"/>
            <a:ext cx="3026664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1ECF7"/>
                </a:solidFill>
                <a:latin typeface="Aptos"/>
              </a:defRPr>
            </a:pPr>
            <a:r>
              <a:t>Delete a word from the Trie.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0183" y="3703320"/>
            <a:ext cx="3429000" cy="141732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31352" y="3867911"/>
            <a:ext cx="302666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86EFAC"/>
                </a:solidFill>
                <a:latin typeface="Aptos"/>
              </a:defRPr>
            </a:pPr>
            <a:r>
              <a:t>Exit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1352" y="4361688"/>
            <a:ext cx="3026664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1ECF7"/>
                </a:solidFill>
                <a:latin typeface="Aptos"/>
              </a:defRPr>
            </a:pPr>
            <a:r>
              <a:t>Close the program.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Time and Space Complexity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BC0D6"/>
                </a:solidFill>
                <a:latin typeface="Aptos"/>
              </a:defRPr>
            </a:pPr>
            <a:r>
              <a:t>Let L be the length of the word or prefix.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ABC0D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41732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2666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7DD3FC"/>
                </a:solidFill>
                <a:latin typeface="Aptos"/>
              </a:defRPr>
            </a:pPr>
            <a:r>
              <a:t>Insert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3026664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400" b="0">
                <a:solidFill>
                  <a:srgbClr val="E1ECF7"/>
                </a:solidFill>
                <a:latin typeface="Aptos"/>
              </a:defRPr>
            </a:pPr>
            <a:r>
              <a:t>O(L)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141732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302666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86EFAC"/>
                </a:solidFill>
                <a:latin typeface="Aptos"/>
              </a:defRPr>
            </a:pPr>
            <a:r>
              <a:t>Exact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87168"/>
            <a:ext cx="3026664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400" b="0">
                <a:solidFill>
                  <a:srgbClr val="E1ECF7"/>
                </a:solidFill>
                <a:latin typeface="Aptos"/>
              </a:defRPr>
            </a:pPr>
            <a:r>
              <a:t>O(L)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141732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302666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Find prefix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87168"/>
            <a:ext cx="3026664" cy="6126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400" b="0">
                <a:solidFill>
                  <a:srgbClr val="E1ECF7"/>
                </a:solidFill>
                <a:latin typeface="Aptos"/>
              </a:defRPr>
            </a:pPr>
            <a:r>
              <a:t>O(L)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10424160" cy="2103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1ECF7"/>
                </a:solidFill>
                <a:latin typeface="Aptos"/>
              </a:defRPr>
            </a:pPr>
            <a:r>
              <a:t>•  Autocomplete also spends time traversing and outputting the matching subtree.</a:t>
            </a:r>
          </a:p>
          <a:p>
            <a:pPr>
              <a:spcAft>
                <a:spcPts val="1000"/>
              </a:spcAft>
              <a:defRPr sz="1700">
                <a:solidFill>
                  <a:srgbClr val="E1ECF7"/>
                </a:solidFill>
                <a:latin typeface="Aptos"/>
              </a:defRPr>
            </a:pPr>
            <a:r>
              <a:t>•  Space grows with the number of Trie nodes; each node reserves 26 child pointers.</a:t>
            </a:r>
          </a:p>
          <a:p>
            <a:pPr>
              <a:spcAft>
                <a:spcPts val="1000"/>
              </a:spcAft>
              <a:defRPr sz="1700">
                <a:solidFill>
                  <a:srgbClr val="E1ECF7"/>
                </a:solidFill>
                <a:latin typeface="Aptos"/>
              </a:defRPr>
            </a:pPr>
            <a:r>
              <a:t>•  The fixed child array makes letter lookup direct, but can use more memory for sparse branches.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Connection to AI and Natural Language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BC0D6"/>
                </a:solidFill>
                <a:latin typeface="Aptos"/>
              </a:defRPr>
            </a:pPr>
            <a:r>
              <a:t>The Trie provides an efficient lookup component—not the whole AI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ABC0D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37560" cy="201168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352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7DD3FC"/>
                </a:solidFill>
                <a:latin typeface="Aptos"/>
              </a:defRPr>
            </a:pPr>
            <a:r>
              <a:t>Trie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2935224" cy="12070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E1ECF7"/>
                </a:solidFill>
                <a:latin typeface="Aptos"/>
              </a:defRPr>
            </a:pPr>
            <a:r>
              <a:t>Stores vocabulary and follows prefixes.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37560" cy="201168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993392"/>
            <a:ext cx="29352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86EFAC"/>
                </a:solidFill>
                <a:latin typeface="Aptos"/>
              </a:defRPr>
            </a:pPr>
            <a:r>
              <a:t>Autocomplete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487168"/>
            <a:ext cx="2935224" cy="12070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E1ECF7"/>
                </a:solidFill>
                <a:latin typeface="Aptos"/>
              </a:defRPr>
            </a:pPr>
            <a:r>
              <a:t>Uses the prefix to request matching words.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337560" cy="201168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993392"/>
            <a:ext cx="29352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Advanced AI/NLP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487168"/>
            <a:ext cx="2935224" cy="12070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E1ECF7"/>
                </a:solidFill>
                <a:latin typeface="Aptos"/>
              </a:defRPr>
            </a:pPr>
            <a:r>
              <a:t>May rank or predict using context and language models.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69080" y="2743200"/>
            <a:ext cx="365760" cy="0"/>
          </a:xfrm>
          <a:prstGeom prst="line">
            <a:avLst/>
          </a:prstGeom>
          <a:ln w="2540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72400" y="2743200"/>
            <a:ext cx="365760" cy="0"/>
          </a:xfrm>
          <a:prstGeom prst="line">
            <a:avLst/>
          </a:prstGeom>
          <a:ln w="25400">
            <a:solidFill>
              <a:srgbClr val="7DD3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4434840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7DD3FC"/>
                </a:solidFill>
                <a:latin typeface="Aptos"/>
              </a:defRPr>
            </a:pPr>
            <a:r>
              <a:t>Project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1014984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0">
                <a:solidFill>
                  <a:srgbClr val="E1ECF7"/>
                </a:solidFill>
                <a:latin typeface="Aptos"/>
              </a:defRPr>
            </a:pPr>
            <a:r>
              <a:t>This program demonstrates prefix-based suggestions. It does not learn from context, personalize results, or rank words by probability.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Applications, Benefits,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BC0D6"/>
                </a:solidFill>
                <a:latin typeface="Aptos"/>
              </a:defRPr>
            </a:pPr>
            <a:r>
              <a:t>Where prefix-based search is useful—and what this implementation does not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ABC0D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242316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02666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7DD3FC"/>
                </a:solidFill>
                <a:latin typeface="Aptos"/>
              </a:defRPr>
            </a:pPr>
            <a:r>
              <a:t>Possible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3026664" cy="1618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1ECF7"/>
                </a:solidFill>
                <a:latin typeface="Aptos"/>
              </a:defRPr>
            </a:pPr>
            <a:r>
              <a:t>• Search suggestions</a:t>
            </a:r>
            <a:br/>
            <a:r>
              <a:t>• Dictionary lookup</a:t>
            </a:r>
            <a:br/>
            <a:r>
              <a:t>• Command or filename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242316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302666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86EFAC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87168"/>
            <a:ext cx="3026664" cy="1618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1ECF7"/>
                </a:solidFill>
                <a:latin typeface="Aptos"/>
              </a:defRPr>
            </a:pPr>
            <a:r>
              <a:t>• Fast prefix traversal</a:t>
            </a:r>
            <a:br/>
            <a:r>
              <a:t>• Shared paths for common prefixes</a:t>
            </a:r>
            <a:br/>
            <a:r>
              <a:t>• Clear, predictable behavior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242316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302666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FACC15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87168"/>
            <a:ext cx="3026664" cy="1618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E1ECF7"/>
                </a:solidFill>
                <a:latin typeface="Aptos"/>
              </a:defRPr>
            </a:pPr>
            <a:r>
              <a:t>• Lowercase English letters only</a:t>
            </a:r>
            <a:br/>
            <a:r>
              <a:t>• Fixed 26-pointer array per node</a:t>
            </a:r>
            <a:br/>
            <a:r>
              <a:t>• Suggestions are not ranked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106070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BC0D6"/>
                </a:solidFill>
                <a:latin typeface="Aptos"/>
              </a:defRPr>
            </a:pPr>
            <a:r>
              <a:t>Real-world note: Tries are a general technique used in prefix-oriented lookup; individual products may use different or combined algorithms.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Testing the 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BC0D6"/>
                </a:solidFill>
                <a:latin typeface="Aptos"/>
              </a:defRPr>
            </a:pPr>
            <a:r>
              <a:t>Execution checks performed in the terminal.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ABC0D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10652760" cy="749808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20240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7DD3FC"/>
                </a:solidFill>
                <a:latin typeface="Aptos"/>
              </a:defRPr>
            </a:pPr>
            <a:r>
              <a:t>Autocomplete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92024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E1ECF7"/>
                </a:solidFill>
                <a:latin typeface="Aptos"/>
              </a:defRPr>
            </a:pPr>
            <a:r>
              <a:rPr dirty="0"/>
              <a:t>Prefix </a:t>
            </a:r>
            <a:r>
              <a:rPr lang="en-US" dirty="0"/>
              <a:t>'</a:t>
            </a:r>
            <a:r>
              <a:rPr dirty="0"/>
              <a:t>comp</a:t>
            </a:r>
            <a:r>
              <a:rPr lang="en-US" dirty="0"/>
              <a:t>'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263640" y="1920240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8FAFC"/>
                </a:solidFill>
                <a:latin typeface="Aptos"/>
              </a:defRPr>
            </a:pPr>
            <a:r>
              <a:t>Matching words are listed.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70632"/>
            <a:ext cx="10652760" cy="749808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907792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7DD3FC"/>
                </a:solidFill>
                <a:latin typeface="Aptos"/>
              </a:defRPr>
            </a:pPr>
            <a:r>
              <a:t>Exact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907792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E1ECF7"/>
                </a:solidFill>
                <a:latin typeface="Aptos"/>
              </a:defRPr>
            </a:pPr>
            <a:r>
              <a:rPr lang="en-US" dirty="0"/>
              <a:t>'</a:t>
            </a:r>
            <a:r>
              <a:rPr dirty="0"/>
              <a:t>compute</a:t>
            </a:r>
            <a:r>
              <a:rPr lang="en-US" dirty="0"/>
              <a:t>'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263640" y="2907792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8FAFC"/>
                </a:solidFill>
                <a:latin typeface="Aptos"/>
              </a:defRPr>
            </a:pPr>
            <a:r>
              <a:t>Existing word is found.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58184"/>
            <a:ext cx="10652760" cy="749808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895344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7DD3FC"/>
                </a:solidFill>
                <a:latin typeface="Aptos"/>
              </a:defRPr>
            </a:pPr>
            <a:r>
              <a:t>Missing 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895344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E1ECF7"/>
                </a:solidFill>
                <a:latin typeface="Aptos"/>
              </a:defRPr>
            </a:pPr>
            <a:r>
              <a:rPr lang="en-US" dirty="0"/>
              <a:t>'</a:t>
            </a:r>
            <a:r>
              <a:rPr dirty="0" err="1"/>
              <a:t>xyzabc</a:t>
            </a:r>
            <a:r>
              <a:rPr lang="en-US" dirty="0"/>
              <a:t>'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263640" y="3895344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8FAFC"/>
                </a:solidFill>
                <a:latin typeface="Aptos"/>
              </a:defRPr>
            </a:pPr>
            <a:r>
              <a:t>Absent word is reported.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45736"/>
            <a:ext cx="10652760" cy="749808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882896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7DD3FC"/>
                </a:solidFill>
                <a:latin typeface="Aptos"/>
              </a:defRPr>
            </a:pPr>
            <a:r>
              <a:t>Add &amp; remove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882896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E1ECF7"/>
                </a:solidFill>
                <a:latin typeface="Aptos"/>
              </a:defRPr>
            </a:pPr>
            <a:r>
              <a:rPr dirty="0"/>
              <a:t>Add </a:t>
            </a:r>
            <a:r>
              <a:rPr lang="en-US" dirty="0"/>
              <a:t>'</a:t>
            </a:r>
            <a:r>
              <a:rPr dirty="0"/>
              <a:t>Arya</a:t>
            </a:r>
            <a:r>
              <a:rPr lang="en-US" dirty="0"/>
              <a:t>’ </a:t>
            </a:r>
            <a:r>
              <a:rPr dirty="0"/>
              <a:t>, then remove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882896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F8FAFC"/>
                </a:solidFill>
                <a:latin typeface="Aptos"/>
              </a:defRPr>
            </a:pPr>
            <a:r>
              <a:t>The word can be inserted and removed.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9966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FACC15"/>
                </a:solidFill>
                <a:latin typeface="Aptos"/>
              </a:defRPr>
            </a:pPr>
            <a:r>
              <a:t>Next: live demonstration of the running C++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33271"/>
            <a:ext cx="1005840" cy="50292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ABC0D6"/>
                </a:solidFill>
                <a:latin typeface="Aptos"/>
              </a:defRPr>
            </a:pPr>
            <a:r>
              <a:t>A simple data structure can support a useful text feature.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1">
                <a:solidFill>
                  <a:srgbClr val="ABC0D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6675120" cy="3566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E1ECF7"/>
                </a:solidFill>
                <a:latin typeface="Aptos"/>
              </a:defRPr>
            </a:pPr>
            <a:r>
              <a:t>•  A Trie organizes words by character paths and shared prefixes.</a:t>
            </a:r>
          </a:p>
          <a:p>
            <a:pPr>
              <a:spcAft>
                <a:spcPts val="1300"/>
              </a:spcAft>
              <a:defRPr sz="1800">
                <a:solidFill>
                  <a:srgbClr val="E1ECF7"/>
                </a:solidFill>
                <a:latin typeface="Aptos"/>
              </a:defRPr>
            </a:pPr>
            <a:r>
              <a:t>•  The C++ program demonstrates insertion, search, autocomplete, display, and removal.</a:t>
            </a:r>
          </a:p>
          <a:p>
            <a:pPr>
              <a:spcAft>
                <a:spcPts val="1300"/>
              </a:spcAft>
              <a:defRPr sz="1800">
                <a:solidFill>
                  <a:srgbClr val="E1ECF7"/>
                </a:solidFill>
                <a:latin typeface="Aptos"/>
              </a:defRPr>
            </a:pPr>
            <a:r>
              <a:t>•  Prefix lookup is one building block that can be combined with larger AI/NLP systems.</a:t>
            </a:r>
          </a:p>
          <a:p>
            <a:pPr>
              <a:spcAft>
                <a:spcPts val="1300"/>
              </a:spcAft>
              <a:defRPr sz="1800">
                <a:solidFill>
                  <a:srgbClr val="E1ECF7"/>
                </a:solidFill>
                <a:latin typeface="Aptos"/>
              </a:defRPr>
            </a:pPr>
            <a:r>
              <a:t>•  The project helped connect data-structure theory to a practical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920240"/>
            <a:ext cx="3383280" cy="2331720"/>
          </a:xfrm>
          <a:prstGeom prst="roundRect">
            <a:avLst/>
          </a:prstGeom>
          <a:solidFill>
            <a:srgbClr val="193253"/>
          </a:solidFill>
          <a:ln>
            <a:solidFill>
              <a:srgbClr val="344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8" y="2084832"/>
            <a:ext cx="298094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900" b="1">
                <a:solidFill>
                  <a:srgbClr val="7DD3FC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8" y="2578608"/>
            <a:ext cx="2980944" cy="1527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0">
                <a:solidFill>
                  <a:srgbClr val="E1ECF7"/>
                </a:solidFill>
                <a:latin typeface="Aptos"/>
              </a:defRPr>
            </a:pPr>
            <a:r>
              <a:t>• Course assignment instructions</a:t>
            </a:r>
            <a:br/>
            <a:r>
              <a:t>• cppreference.com — C++ language/library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69280"/>
            <a:ext cx="38404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7DD3FC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649</Words>
  <Application>Microsoft Macintosh PowerPoint</Application>
  <PresentationFormat>Widescreen</PresentationFormat>
  <Paragraphs>114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Desai, Arya Shaileshbhai</cp:lastModifiedBy>
  <cp:revision>2</cp:revision>
  <dcterms:created xsi:type="dcterms:W3CDTF">2013-01-27T09:14:16Z</dcterms:created>
  <dcterms:modified xsi:type="dcterms:W3CDTF">2026-10-22T20:23:05Z</dcterms:modified>
  <cp:category/>
</cp:coreProperties>
</file>