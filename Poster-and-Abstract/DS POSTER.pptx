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handoutMasterIdLst>
    <p:handoutMasterId r:id="rId4"/>
  </p:handoutMasterIdLst>
  <p:sldIdLst>
    <p:sldId id="256" r:id="rId2"/>
  </p:sldIdLst>
  <p:sldSz cx="43891200" cy="32918400"/>
  <p:notesSz cx="6858000" cy="9144000"/>
  <p:embeddedFontLst>
    <p:embeddedFont>
      <p:font typeface="Arial Black" panose="020B0604020202020204" pitchFamily="34" charset="0"/>
      <p:regular r:id="rId5"/>
      <p:bold r:id="rId6"/>
    </p:embeddedFont>
    <p:embeddedFont>
      <p:font typeface="Garamond" panose="02020404030301010803" pitchFamily="18" charset="0"/>
      <p:regular r:id="rId7"/>
      <p:bold r:id="rId8"/>
      <p:italic r:id="rId9"/>
      <p:boldItalic r:id="rId10"/>
    </p:embeddedFont>
    <p:embeddedFont>
      <p:font typeface="Helvetica Neue" panose="02000503000000020004" pitchFamily="2"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28"/>
    <p:restoredTop sz="94640"/>
  </p:normalViewPr>
  <p:slideViewPr>
    <p:cSldViewPr snapToGrid="0">
      <p:cViewPr>
        <p:scale>
          <a:sx n="24" d="100"/>
          <a:sy n="24" d="100"/>
        </p:scale>
        <p:origin x="144" y="144"/>
      </p:cViewPr>
      <p:guideLst>
        <p:guide orient="horz" pos="10368"/>
        <p:guide pos="13824"/>
      </p:guideLst>
    </p:cSldViewPr>
  </p:slideViewPr>
  <p:notesTextViewPr>
    <p:cViewPr>
      <p:scale>
        <a:sx n="1" d="1"/>
        <a:sy n="1" d="1"/>
      </p:scale>
      <p:origin x="0" y="0"/>
    </p:cViewPr>
  </p:notesTextViewPr>
  <p:notesViewPr>
    <p:cSldViewPr snapToGrid="0">
      <p:cViewPr varScale="1">
        <p:scale>
          <a:sx n="89" d="100"/>
          <a:sy n="89" d="100"/>
        </p:scale>
        <p:origin x="396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tableStyles" Target="tableStyles.xml"/><Relationship Id="rId7" Type="http://schemas.openxmlformats.org/officeDocument/2006/relationships/font" Target="fonts/font3.fntdata"/><Relationship Id="rId12" Type="http://schemas.openxmlformats.org/officeDocument/2006/relationships/font" Target="fonts/font8.fntdata"/><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0" Type="http://schemas.openxmlformats.org/officeDocument/2006/relationships/font" Target="fonts/font6.fntdata"/><Relationship Id="rId19" Type="http://schemas.openxmlformats.org/officeDocument/2006/relationships/viewProps" Target="viewProps.xml"/><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552F6F-D8CE-98E7-7E00-818A58670E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423B76F-7DE7-DF9A-B76D-054F38A227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6011FB-5DEA-454D-A743-41386CCC98AA}" type="datetimeFigureOut">
              <a:rPr lang="en-US" smtClean="0"/>
              <a:t>10/29/26</a:t>
            </a:fld>
            <a:endParaRPr lang="en-US"/>
          </a:p>
        </p:txBody>
      </p:sp>
      <p:sp>
        <p:nvSpPr>
          <p:cNvPr id="4" name="Footer Placeholder 3">
            <a:extLst>
              <a:ext uri="{FF2B5EF4-FFF2-40B4-BE49-F238E27FC236}">
                <a16:creationId xmlns:a16="http://schemas.microsoft.com/office/drawing/2014/main" id="{2D68DCDB-9FC8-9A92-E0CF-0A69811E00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2B0C59-CEAB-592C-054F-7895D55747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2C13D6-DC2A-9C4F-ABD5-F9B28F815E49}" type="slidenum">
              <a:rPr lang="en-US" smtClean="0"/>
              <a:t>‹#›</a:t>
            </a:fld>
            <a:endParaRPr lang="en-US"/>
          </a:p>
        </p:txBody>
      </p:sp>
    </p:spTree>
    <p:extLst>
      <p:ext uri="{BB962C8B-B14F-4D97-AF65-F5344CB8AC3E}">
        <p14:creationId xmlns:p14="http://schemas.microsoft.com/office/powerpoint/2010/main" val="3112520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70" name="Google Shape;7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Ref idx="1001">
        <a:schemeClr val="bg2"/>
      </p:bgRef>
    </p:bg>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solidFill>
            <a:schemeClr val="bg2">
              <a:lumMod val="90000"/>
              <a:lumOff val="1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solidFill>
            <a:schemeClr val="bg2">
              <a:lumMod val="75000"/>
              <a:lumOff val="2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dirty="0"/>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endParaRP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txBody>
          <a:bodyPr/>
          <a:lstStyle/>
          <a:p>
            <a:endParaRPr lang="en-US"/>
          </a:p>
        </p:txBody>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dirty="0"/>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jpg"/><Relationship Id="rId7" Type="http://schemas.openxmlformats.org/officeDocument/2006/relationships/image" Target="../media/image4.jpe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hyperlink" Target="mailto:Victor.Govindaswamy@cuchicago.edu"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Shape 71"/>
        <p:cNvGrpSpPr/>
        <p:nvPr/>
      </p:nvGrpSpPr>
      <p:grpSpPr>
        <a:xfrm>
          <a:off x="0" y="0"/>
          <a:ext cx="0" cy="0"/>
          <a:chOff x="0" y="0"/>
          <a:chExt cx="0" cy="0"/>
        </a:xfrm>
      </p:grpSpPr>
      <p:pic>
        <p:nvPicPr>
          <p:cNvPr id="74" name="Google Shape;74;p1"/>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p:cNvSpPr/>
          <p:nvPr/>
        </p:nvSpPr>
        <p:spPr>
          <a:xfrm>
            <a:off x="33055050" y="5635325"/>
            <a:ext cx="99891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buSzPts val="3200"/>
            </a:pPr>
            <a:r>
              <a:rPr lang="en-US" sz="3400" b="1" dirty="0">
                <a:solidFill>
                  <a:schemeClr val="tx1"/>
                </a:solidFill>
                <a:latin typeface="Garamond" panose="02020404030301010803" pitchFamily="18" charset="0"/>
              </a:rPr>
              <a:t>UML</a:t>
            </a:r>
            <a:r>
              <a:rPr lang="en-US" sz="3600" b="1" dirty="0"/>
              <a:t> </a:t>
            </a:r>
          </a:p>
        </p:txBody>
      </p:sp>
      <p:sp>
        <p:nvSpPr>
          <p:cNvPr id="76" name="Google Shape;76;p1"/>
          <p:cNvSpPr txBox="1"/>
          <p:nvPr/>
        </p:nvSpPr>
        <p:spPr>
          <a:xfrm>
            <a:off x="696409" y="6277675"/>
            <a:ext cx="9982200" cy="10095031"/>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3400" dirty="0">
                <a:highlight>
                  <a:srgbClr val="FFFFFF"/>
                </a:highlight>
                <a:latin typeface="Garamond" panose="02020404030301010803" pitchFamily="18" charset="0"/>
              </a:rPr>
              <a:t>Predictive text and autocomplete systems help users enter words more quickly by suggesting possible completions based on the characters they type. This project implements a Trie data structure in C++ to develop a menu-based predictive text and autocomplete application. The program supports inserting new words, searching for existing words, generating autocomplete suggestions, displaying stored words, and removing words from the vocabulary. It also includes input validation and a predefined vocabulary to demonstrate the main operations. The project examines the efficiency of Trie operations and explores their connection to Artificial Intelligence (AI) and Natural Language Processing (NLP) through prefix matching.</a:t>
            </a:r>
          </a:p>
          <a:p>
            <a:pPr marL="0" lvl="0" indent="0" algn="l" rtl="0">
              <a:lnSpc>
                <a:spcPct val="115000"/>
              </a:lnSpc>
              <a:spcBef>
                <a:spcPts val="0"/>
              </a:spcBef>
              <a:spcAft>
                <a:spcPts val="0"/>
              </a:spcAft>
              <a:buClr>
                <a:schemeClr val="dk1"/>
              </a:buClr>
              <a:buSzPts val="1100"/>
              <a:buFont typeface="Arial"/>
              <a:buNone/>
            </a:pPr>
            <a:endParaRPr sz="3200" dirty="0">
              <a:solidFill>
                <a:schemeClr val="dk1"/>
              </a:solidFill>
              <a:highlight>
                <a:srgbClr val="FFFFFF"/>
              </a:highlight>
            </a:endParaRPr>
          </a:p>
          <a:p>
            <a:pPr marL="0" marR="0" lvl="0" indent="0" algn="l" rtl="0">
              <a:lnSpc>
                <a:spcPct val="115000"/>
              </a:lnSpc>
              <a:spcBef>
                <a:spcPts val="0"/>
              </a:spcBef>
              <a:spcAft>
                <a:spcPts val="0"/>
              </a:spcAft>
              <a:buClr>
                <a:srgbClr val="000000"/>
              </a:buClr>
              <a:buSzPts val="1100"/>
              <a:buFont typeface="Arial"/>
              <a:buNone/>
            </a:pPr>
            <a:endParaRPr sz="3200" dirty="0">
              <a:solidFill>
                <a:schemeClr val="dk1"/>
              </a:solidFill>
              <a:highlight>
                <a:srgbClr val="FFFFFF"/>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900"/>
              <a:buFont typeface="Arial"/>
              <a:buNone/>
            </a:pPr>
            <a:endParaRPr sz="2900" b="0" i="0" u="none" strike="noStrike" cap="none" dirty="0">
              <a:solidFill>
                <a:schemeClr val="dk1"/>
              </a:solidFill>
              <a:latin typeface="Arial"/>
              <a:ea typeface="Arial"/>
              <a:cs typeface="Arial"/>
              <a:sym typeface="Arial"/>
            </a:endParaRPr>
          </a:p>
        </p:txBody>
      </p:sp>
      <p:sp>
        <p:nvSpPr>
          <p:cNvPr id="77" name="Google Shape;77;p1"/>
          <p:cNvSpPr/>
          <p:nvPr/>
        </p:nvSpPr>
        <p:spPr>
          <a:xfrm>
            <a:off x="689075" y="28843250"/>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a:solidFill>
                  <a:srgbClr val="F8F8F8"/>
                </a:solidFill>
                <a:latin typeface="Garamond"/>
                <a:ea typeface="Garamond"/>
                <a:cs typeface="Garamond"/>
                <a:sym typeface="Garamond"/>
              </a:rPr>
              <a:t>Technolog</a:t>
            </a:r>
            <a:r>
              <a:rPr lang="en-US" sz="3600" b="1">
                <a:solidFill>
                  <a:srgbClr val="F8F8F8"/>
                </a:solidFill>
                <a:latin typeface="Garamond"/>
                <a:ea typeface="Garamond"/>
                <a:cs typeface="Garamond"/>
                <a:sym typeface="Garamond"/>
              </a:rPr>
              <a:t>ies </a:t>
            </a:r>
            <a:r>
              <a:rPr lang="en-US" sz="3600" b="1" i="0" u="none" strike="noStrike" cap="none">
                <a:solidFill>
                  <a:srgbClr val="F8F8F8"/>
                </a:solidFill>
                <a:latin typeface="Garamond"/>
                <a:ea typeface="Garamond"/>
                <a:cs typeface="Garamond"/>
                <a:sym typeface="Garamond"/>
              </a:rPr>
              <a:t>Used</a:t>
            </a:r>
            <a:endParaRPr sz="3600" i="0" u="none" strike="noStrike" cap="none">
              <a:solidFill>
                <a:srgbClr val="000000"/>
              </a:solidFill>
              <a:latin typeface="Garamond"/>
              <a:ea typeface="Garamond"/>
              <a:cs typeface="Garamond"/>
              <a:sym typeface="Garamond"/>
            </a:endParaRPr>
          </a:p>
        </p:txBody>
      </p:sp>
      <p:sp>
        <p:nvSpPr>
          <p:cNvPr id="78" name="Google Shape;78;p1"/>
          <p:cNvSpPr txBox="1"/>
          <p:nvPr/>
        </p:nvSpPr>
        <p:spPr>
          <a:xfrm>
            <a:off x="6509400" y="184500"/>
            <a:ext cx="30872400" cy="4324220"/>
          </a:xfrm>
          <a:prstGeom prst="rect">
            <a:avLst/>
          </a:prstGeom>
          <a:noFill/>
          <a:ln>
            <a:noFill/>
          </a:ln>
        </p:spPr>
        <p:txBody>
          <a:bodyPr spcFirstLastPara="1" wrap="square" lIns="91425" tIns="45700" rIns="91425" bIns="45700" anchor="t" anchorCtr="0">
            <a:spAutoFit/>
          </a:bodyPr>
          <a:lstStyle/>
          <a:p>
            <a:pPr algn="ctr">
              <a:spcBef>
                <a:spcPts val="2400"/>
              </a:spcBef>
              <a:buSzPts val="4300"/>
            </a:pPr>
            <a:r>
              <a:rPr lang="en-US" sz="7200" b="1" dirty="0">
                <a:solidFill>
                  <a:schemeClr val="tx1"/>
                </a:solidFill>
                <a:latin typeface="Garamond" panose="02020404030301010803" pitchFamily="18" charset="0"/>
              </a:rPr>
              <a:t>Trie-Based Predictive Text &amp; Autocomplete System Using C++</a:t>
            </a:r>
          </a:p>
          <a:p>
            <a:pPr marL="0" marR="0" lvl="0" indent="0" algn="ctr" rtl="0">
              <a:lnSpc>
                <a:spcPct val="100000"/>
              </a:lnSpc>
              <a:spcBef>
                <a:spcPts val="2400"/>
              </a:spcBef>
              <a:spcAft>
                <a:spcPts val="0"/>
              </a:spcAft>
              <a:buClr>
                <a:srgbClr val="000000"/>
              </a:buClr>
              <a:buSzPts val="4300"/>
              <a:buFont typeface="Arial"/>
              <a:buNone/>
            </a:pPr>
            <a:r>
              <a:rPr lang="en-US" sz="5400" b="1" dirty="0">
                <a:solidFill>
                  <a:srgbClr val="FFFFFF"/>
                </a:solidFill>
                <a:latin typeface="Garamond" panose="02020404030301010803" pitchFamily="18" charset="0"/>
              </a:rPr>
              <a:t>Arya Desai</a:t>
            </a: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Advisor: Dr. Victor Govindaswamy</a:t>
            </a:r>
            <a:endParaRPr sz="9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sz="900" b="0" i="0" u="none" strike="noStrike" cap="none" dirty="0">
              <a:solidFill>
                <a:srgbClr val="000000"/>
              </a:solidFill>
              <a:latin typeface="Garamond" panose="02020404030301010803" pitchFamily="18" charset="0"/>
              <a:sym typeface="Arial"/>
            </a:endParaRPr>
          </a:p>
        </p:txBody>
      </p:sp>
      <p:sp>
        <p:nvSpPr>
          <p:cNvPr id="84" name="Google Shape;84;p1"/>
          <p:cNvSpPr/>
          <p:nvPr/>
        </p:nvSpPr>
        <p:spPr>
          <a:xfrm>
            <a:off x="33061800" y="26800925"/>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Contacts</a:t>
            </a:r>
            <a:endParaRPr sz="3600" i="0" u="none" strike="noStrike" cap="none">
              <a:solidFill>
                <a:srgbClr val="000000"/>
              </a:solidFill>
              <a:latin typeface="Garamond"/>
              <a:ea typeface="Garamond"/>
              <a:cs typeface="Garamond"/>
              <a:sym typeface="Garamond"/>
            </a:endParaRPr>
          </a:p>
        </p:txBody>
      </p:sp>
      <p:sp>
        <p:nvSpPr>
          <p:cNvPr id="94" name="Google Shape;94;p1"/>
          <p:cNvSpPr txBox="1"/>
          <p:nvPr/>
        </p:nvSpPr>
        <p:spPr>
          <a:xfrm>
            <a:off x="33099701" y="27337651"/>
            <a:ext cx="9749700" cy="483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Bioinformatics And Technology Laboratory (BAT Lab)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r>
              <a:rPr lang="en-US" sz="2800" b="1" dirty="0">
                <a:solidFill>
                  <a:schemeClr val="dk1"/>
                </a:solidFill>
                <a:latin typeface="Garamond"/>
                <a:ea typeface="Garamond"/>
                <a:cs typeface="Garamond"/>
                <a:sym typeface="Garamond"/>
              </a:rPr>
              <a:t>Programming Application Implementation and Design (PAID)</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Computer Science Department (CSC@CUC)</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Member:</a:t>
            </a:r>
            <a:r>
              <a:rPr lang="en-US" sz="2800" i="0" u="none" strike="noStrike" cap="none" dirty="0">
                <a:solidFill>
                  <a:schemeClr val="dk1"/>
                </a:solidFill>
                <a:latin typeface="Garamond"/>
                <a:ea typeface="Garamond"/>
                <a:cs typeface="Garamond"/>
                <a:sym typeface="Garamond"/>
              </a:rPr>
              <a:t> 	</a:t>
            </a:r>
            <a:r>
              <a:rPr lang="en-US" sz="2800" dirty="0">
                <a:solidFill>
                  <a:schemeClr val="dk1"/>
                </a:solidFill>
                <a:latin typeface="Garamond"/>
                <a:ea typeface="Garamond"/>
                <a:cs typeface="Garamond"/>
                <a:sym typeface="Garamond"/>
              </a:rPr>
              <a:t>Arya Desai</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Advisor: 	</a:t>
            </a:r>
            <a:r>
              <a:rPr lang="en-US" sz="2800" i="0" u="none" strike="noStrike" cap="none" dirty="0">
                <a:solidFill>
                  <a:schemeClr val="dk1"/>
                </a:solidFill>
                <a:latin typeface="Garamond"/>
                <a:ea typeface="Garamond"/>
                <a:cs typeface="Garamond"/>
                <a:sym typeface="Garamond"/>
              </a:rPr>
              <a:t>Dr Visvasuresh (Victor) Govindaswamy</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Email:</a:t>
            </a:r>
            <a:r>
              <a:rPr lang="en-US" sz="2800" i="0" u="none" strike="noStrike" cap="none" dirty="0">
                <a:solidFill>
                  <a:schemeClr val="dk1"/>
                </a:solidFill>
                <a:latin typeface="Garamond"/>
                <a:ea typeface="Garamond"/>
                <a:cs typeface="Garamond"/>
                <a:sym typeface="Garamond"/>
              </a:rPr>
              <a:t> 	Victor.Govindaswamy@cuchicago.edu</a:t>
            </a:r>
            <a:r>
              <a:rPr lang="en-US" sz="2800" i="0" u="sng" strike="noStrike" cap="none" dirty="0">
                <a:solidFill>
                  <a:schemeClr val="hlink"/>
                </a:solidFill>
                <a:latin typeface="Garamond"/>
                <a:ea typeface="Garamond"/>
                <a:cs typeface="Garamond"/>
                <a:sym typeface="Garamond"/>
                <a:hlinkClick r:id="rId4"/>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Address:</a:t>
            </a:r>
            <a:r>
              <a:rPr lang="en-US" sz="2800" i="0" u="none" strike="noStrike" cap="none" dirty="0">
                <a:solidFill>
                  <a:schemeClr val="dk1"/>
                </a:solidFill>
                <a:latin typeface="Garamond"/>
                <a:ea typeface="Garamond"/>
                <a:cs typeface="Garamond"/>
                <a:sym typeface="Garamond"/>
              </a:rPr>
              <a:t> 	Concordia Chicago University</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7400 Augusta Street</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River Forest, IL, 6030</a:t>
            </a:r>
            <a:r>
              <a:rPr lang="en-US" sz="2800" dirty="0">
                <a:solidFill>
                  <a:schemeClr val="dk1"/>
                </a:solidFill>
                <a:latin typeface="Garamond"/>
                <a:ea typeface="Garamond"/>
                <a:cs typeface="Garamond"/>
                <a:sym typeface="Garamond"/>
              </a:rPr>
              <a:t>5</a:t>
            </a:r>
            <a:r>
              <a:rPr lang="en-US" sz="2800" i="0" u="none" strike="noStrike" cap="none" dirty="0">
                <a:solidFill>
                  <a:schemeClr val="dk1"/>
                </a:solidFill>
                <a:latin typeface="Garamond"/>
                <a:ea typeface="Garamond"/>
                <a:cs typeface="Garamond"/>
                <a:sym typeface="Garamond"/>
              </a:rPr>
              <a:t>-1499</a:t>
            </a:r>
            <a:endParaRPr sz="2800" i="0" u="none" strike="noStrike" cap="none" dirty="0">
              <a:solidFill>
                <a:srgbClr val="000000"/>
              </a:solidFill>
              <a:latin typeface="Garamond"/>
              <a:ea typeface="Garamond"/>
              <a:cs typeface="Garamond"/>
              <a:sym typeface="Garamond"/>
            </a:endParaRPr>
          </a:p>
        </p:txBody>
      </p:sp>
      <p:sp>
        <p:nvSpPr>
          <p:cNvPr id="97" name="Google Shape;97;p1"/>
          <p:cNvSpPr/>
          <p:nvPr/>
        </p:nvSpPr>
        <p:spPr>
          <a:xfrm>
            <a:off x="33071581" y="12938800"/>
            <a:ext cx="99771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buSzPts val="3200"/>
            </a:pPr>
            <a:r>
              <a:rPr lang="en-US" sz="3400" b="1" dirty="0">
                <a:solidFill>
                  <a:schemeClr val="tx1"/>
                </a:solidFill>
                <a:latin typeface="Garamond" panose="02020404030301010803" pitchFamily="18" charset="0"/>
              </a:rPr>
              <a:t>Time and Space Complexity</a:t>
            </a:r>
          </a:p>
        </p:txBody>
      </p:sp>
      <p:pic>
        <p:nvPicPr>
          <p:cNvPr id="99" name="Google Shape;99;p1"/>
          <p:cNvPicPr preferRelativeResize="0"/>
          <p:nvPr/>
        </p:nvPicPr>
        <p:blipFill>
          <a:blip r:embed="rId5">
            <a:alphaModFix/>
          </a:blip>
          <a:stretch>
            <a:fillRect/>
          </a:stretch>
        </p:blipFill>
        <p:spPr>
          <a:xfrm>
            <a:off x="909650" y="29578011"/>
            <a:ext cx="3542363" cy="2503524"/>
          </a:xfrm>
          <a:prstGeom prst="rect">
            <a:avLst/>
          </a:prstGeom>
          <a:noFill/>
          <a:ln>
            <a:noFill/>
          </a:ln>
        </p:spPr>
      </p:pic>
      <p:pic>
        <p:nvPicPr>
          <p:cNvPr id="118" name="Google Shape;118;p1"/>
          <p:cNvPicPr preferRelativeResize="0"/>
          <p:nvPr/>
        </p:nvPicPr>
        <p:blipFill>
          <a:blip r:embed="rId6">
            <a:alphaModFix/>
          </a:blip>
          <a:stretch>
            <a:fillRect/>
          </a:stretch>
        </p:blipFill>
        <p:spPr>
          <a:xfrm>
            <a:off x="7309625" y="29970675"/>
            <a:ext cx="3119450" cy="1757267"/>
          </a:xfrm>
          <a:prstGeom prst="rect">
            <a:avLst/>
          </a:prstGeom>
          <a:noFill/>
          <a:ln>
            <a:noFill/>
          </a:ln>
        </p:spPr>
      </p:pic>
      <p:sp>
        <p:nvSpPr>
          <p:cNvPr id="120" name="Google Shape;120;p1"/>
          <p:cNvSpPr/>
          <p:nvPr/>
        </p:nvSpPr>
        <p:spPr>
          <a:xfrm>
            <a:off x="11483725" y="18930949"/>
            <a:ext cx="9982200" cy="579300"/>
          </a:xfrm>
          <a:prstGeom prst="rect">
            <a:avLst/>
          </a:prstGeom>
          <a:solidFill>
            <a:schemeClr val="bg2"/>
          </a:solidFill>
          <a:ln>
            <a:noFill/>
          </a:ln>
        </p:spPr>
        <p:txBody>
          <a:bodyPr spcFirstLastPara="1" wrap="square" lIns="45600" tIns="45600" rIns="45600" bIns="45600" anchor="t" anchorCtr="0">
            <a:noAutofit/>
          </a:bodyPr>
          <a:lstStyle/>
          <a:p>
            <a:pPr algn="ctr">
              <a:buSzPts val="3200"/>
            </a:pPr>
            <a:r>
              <a:rPr lang="en-US" sz="3400" b="1" dirty="0">
                <a:solidFill>
                  <a:schemeClr val="tx1"/>
                </a:solidFill>
                <a:latin typeface="Garamond" panose="02020404030301010803" pitchFamily="18" charset="0"/>
              </a:rPr>
              <a:t>Autocomplete Demonstration</a:t>
            </a:r>
          </a:p>
          <a:p>
            <a:pPr marL="0" marR="0" lvl="0" indent="0" algn="ctr" rtl="0">
              <a:lnSpc>
                <a:spcPct val="100000"/>
              </a:lnSpc>
              <a:spcBef>
                <a:spcPts val="0"/>
              </a:spcBef>
              <a:spcAft>
                <a:spcPts val="0"/>
              </a:spcAft>
              <a:buClr>
                <a:srgbClr val="000000"/>
              </a:buClr>
              <a:buSzPts val="3200"/>
              <a:buFont typeface="Arial"/>
              <a:buNone/>
            </a:pPr>
            <a:endParaRPr sz="3600" i="0" u="none" strike="noStrike" cap="none" dirty="0">
              <a:solidFill>
                <a:srgbClr val="000000"/>
              </a:solidFill>
              <a:latin typeface="Garamond"/>
              <a:ea typeface="Garamond"/>
              <a:cs typeface="Garamond"/>
              <a:sym typeface="Garamond"/>
            </a:endParaRPr>
          </a:p>
        </p:txBody>
      </p:sp>
      <p:sp>
        <p:nvSpPr>
          <p:cNvPr id="124" name="Google Shape;124;p1"/>
          <p:cNvSpPr/>
          <p:nvPr/>
        </p:nvSpPr>
        <p:spPr>
          <a:xfrm>
            <a:off x="686100" y="5638875"/>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Abstract</a:t>
            </a:r>
            <a:endParaRPr sz="3600" i="0" u="none" strike="noStrike" cap="none">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187345C8-ABC2-0BF8-5280-A751B488195A}"/>
              </a:ext>
            </a:extLst>
          </p:cNvPr>
          <p:cNvPicPr>
            <a:picLocks noChangeAspect="1"/>
          </p:cNvPicPr>
          <p:nvPr/>
        </p:nvPicPr>
        <p:blipFill>
          <a:blip r:embed="rId7" cstate="print"/>
          <a:stretch>
            <a:fillRect/>
          </a:stretch>
        </p:blipFill>
        <p:spPr>
          <a:xfrm>
            <a:off x="11490325" y="1771965"/>
            <a:ext cx="1849898" cy="2390475"/>
          </a:xfrm>
          <a:prstGeom prst="rect">
            <a:avLst/>
          </a:prstGeom>
        </p:spPr>
      </p:pic>
      <p:pic>
        <p:nvPicPr>
          <p:cNvPr id="3" name="Picture 2" descr="CSCUCV1Big.jpg">
            <a:extLst>
              <a:ext uri="{FF2B5EF4-FFF2-40B4-BE49-F238E27FC236}">
                <a16:creationId xmlns:a16="http://schemas.microsoft.com/office/drawing/2014/main" id="{10133330-F11B-8F00-F989-4A0B9CEB07DB}"/>
              </a:ext>
            </a:extLst>
          </p:cNvPr>
          <p:cNvPicPr>
            <a:picLocks noChangeAspect="1"/>
          </p:cNvPicPr>
          <p:nvPr/>
        </p:nvPicPr>
        <p:blipFill>
          <a:blip r:embed="rId7" cstate="print"/>
          <a:stretch>
            <a:fillRect/>
          </a:stretch>
        </p:blipFill>
        <p:spPr>
          <a:xfrm>
            <a:off x="30409690" y="1771965"/>
            <a:ext cx="1849898" cy="2390475"/>
          </a:xfrm>
          <a:prstGeom prst="rect">
            <a:avLst/>
          </a:prstGeom>
        </p:spPr>
      </p:pic>
      <p:sp>
        <p:nvSpPr>
          <p:cNvPr id="4" name="Google Shape;82;p1">
            <a:extLst>
              <a:ext uri="{FF2B5EF4-FFF2-40B4-BE49-F238E27FC236}">
                <a16:creationId xmlns:a16="http://schemas.microsoft.com/office/drawing/2014/main" id="{A7067EA1-8ACC-9755-78B2-6033F072FAEC}"/>
              </a:ext>
            </a:extLst>
          </p:cNvPr>
          <p:cNvSpPr/>
          <p:nvPr/>
        </p:nvSpPr>
        <p:spPr>
          <a:xfrm>
            <a:off x="11487550" y="5638875"/>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buSzPts val="3200"/>
            </a:pPr>
            <a:r>
              <a:rPr lang="en-US" sz="3400" b="1" dirty="0">
                <a:solidFill>
                  <a:schemeClr val="tx1"/>
                </a:solidFill>
                <a:latin typeface="Garamond" panose="02020404030301010803" pitchFamily="18" charset="0"/>
              </a:rPr>
              <a:t>C++ Application Features</a:t>
            </a:r>
          </a:p>
        </p:txBody>
      </p:sp>
      <p:sp>
        <p:nvSpPr>
          <p:cNvPr id="5" name="Google Shape;83;p1">
            <a:extLst>
              <a:ext uri="{FF2B5EF4-FFF2-40B4-BE49-F238E27FC236}">
                <a16:creationId xmlns:a16="http://schemas.microsoft.com/office/drawing/2014/main" id="{0E44522B-F458-4CFE-AF4D-8EBAAFCB4655}"/>
              </a:ext>
            </a:extLst>
          </p:cNvPr>
          <p:cNvSpPr txBox="1"/>
          <p:nvPr/>
        </p:nvSpPr>
        <p:spPr>
          <a:xfrm>
            <a:off x="11609981" y="6286419"/>
            <a:ext cx="9960000" cy="1231076"/>
          </a:xfrm>
          <a:prstGeom prst="rect">
            <a:avLst/>
          </a:prstGeom>
          <a:noFill/>
          <a:ln>
            <a:noFill/>
          </a:ln>
        </p:spPr>
        <p:txBody>
          <a:bodyPr spcFirstLastPara="1" wrap="square" lIns="91425" tIns="91425" rIns="91425" bIns="91425" anchor="t" anchorCtr="0">
            <a:spAutoFit/>
          </a:bodyPr>
          <a:lstStyle/>
          <a:p>
            <a:pPr>
              <a:buSzPts val="2900"/>
            </a:pPr>
            <a:r>
              <a:rPr lang="en-US" sz="3400" dirty="0">
                <a:latin typeface="Garamond" panose="02020404030301010803" pitchFamily="18" charset="0"/>
              </a:rPr>
              <a:t>The program uses a menu-driven interface to make Trie operations accessible to the user.</a:t>
            </a:r>
            <a:endParaRPr lang="en-US" sz="3400" dirty="0">
              <a:latin typeface="Garamond" panose="02020404030301010803" pitchFamily="18" charset="0"/>
              <a:ea typeface="Garamond"/>
              <a:cs typeface="Garamond"/>
              <a:sym typeface="Garamond"/>
            </a:endParaRPr>
          </a:p>
        </p:txBody>
      </p:sp>
      <p:sp>
        <p:nvSpPr>
          <p:cNvPr id="6" name="Google Shape;124;p1">
            <a:extLst>
              <a:ext uri="{FF2B5EF4-FFF2-40B4-BE49-F238E27FC236}">
                <a16:creationId xmlns:a16="http://schemas.microsoft.com/office/drawing/2014/main" id="{36D78678-1275-20E0-7239-C0FB48BBC0A1}"/>
              </a:ext>
            </a:extLst>
          </p:cNvPr>
          <p:cNvSpPr/>
          <p:nvPr/>
        </p:nvSpPr>
        <p:spPr>
          <a:xfrm>
            <a:off x="686100" y="14855837"/>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buSzPts val="3200"/>
            </a:pPr>
            <a:r>
              <a:rPr lang="en-US" sz="3400" b="1" dirty="0">
                <a:solidFill>
                  <a:schemeClr val="tx1"/>
                </a:solidFill>
                <a:latin typeface="Garamond" panose="02020404030301010803" pitchFamily="18" charset="0"/>
              </a:rPr>
              <a:t>What Is a Trie?</a:t>
            </a:r>
          </a:p>
        </p:txBody>
      </p:sp>
      <p:sp>
        <p:nvSpPr>
          <p:cNvPr id="7" name="TextBox 6">
            <a:extLst>
              <a:ext uri="{FF2B5EF4-FFF2-40B4-BE49-F238E27FC236}">
                <a16:creationId xmlns:a16="http://schemas.microsoft.com/office/drawing/2014/main" id="{976037DD-7CFB-258C-E24E-3E83C7060E9B}"/>
              </a:ext>
            </a:extLst>
          </p:cNvPr>
          <p:cNvSpPr txBox="1"/>
          <p:nvPr/>
        </p:nvSpPr>
        <p:spPr>
          <a:xfrm>
            <a:off x="732559" y="15445082"/>
            <a:ext cx="9971891" cy="6370975"/>
          </a:xfrm>
          <a:prstGeom prst="rect">
            <a:avLst/>
          </a:prstGeom>
          <a:noFill/>
        </p:spPr>
        <p:txBody>
          <a:bodyPr wrap="square" rtlCol="0">
            <a:spAutoFit/>
          </a:bodyPr>
          <a:lstStyle/>
          <a:p>
            <a:r>
              <a:rPr lang="en-US" sz="3400" dirty="0">
                <a:latin typeface="Garamond" panose="02020404030301010803" pitchFamily="18" charset="0"/>
              </a:rPr>
              <a:t>A Trie is a tree-based data structure that stores words character by character. Words with common prefixes share the same paths, reducing repeated prefix storage and enabling efficient word searching and autocomplete.</a:t>
            </a:r>
          </a:p>
          <a:p>
            <a:r>
              <a:rPr lang="en-US" sz="3400" b="1" dirty="0">
                <a:latin typeface="Garamond" panose="02020404030301010803" pitchFamily="18" charset="0"/>
              </a:rPr>
              <a:t>Key Components</a:t>
            </a:r>
            <a:endParaRPr lang="en-US" sz="3400" dirty="0">
              <a:latin typeface="Garamond" panose="02020404030301010803" pitchFamily="18" charset="0"/>
            </a:endParaRPr>
          </a:p>
          <a:p>
            <a:pPr marL="457200" indent="-457200">
              <a:buFont typeface="Arial" panose="020B0604020202020204" pitchFamily="34" charset="0"/>
              <a:buChar char="•"/>
            </a:pPr>
            <a:r>
              <a:rPr lang="en-US" sz="3400" dirty="0">
                <a:latin typeface="Garamond" panose="02020404030301010803" pitchFamily="18" charset="0"/>
              </a:rPr>
              <a:t>Root node: Starting point of the Trie.</a:t>
            </a:r>
          </a:p>
          <a:p>
            <a:pPr marL="457200" indent="-457200">
              <a:buFont typeface="Arial" panose="020B0604020202020204" pitchFamily="34" charset="0"/>
              <a:buChar char="•"/>
            </a:pPr>
            <a:r>
              <a:rPr lang="en-US" sz="3400" dirty="0">
                <a:latin typeface="Garamond" panose="02020404030301010803" pitchFamily="18" charset="0"/>
              </a:rPr>
              <a:t>Child pointers: Connect characters to subsequent nodes.</a:t>
            </a:r>
          </a:p>
          <a:p>
            <a:pPr marL="457200" indent="-457200">
              <a:buFont typeface="Arial" panose="020B0604020202020204" pitchFamily="34" charset="0"/>
              <a:buChar char="•"/>
            </a:pPr>
            <a:r>
              <a:rPr lang="en-US" sz="3400" dirty="0">
                <a:latin typeface="Garamond" panose="02020404030301010803" pitchFamily="18" charset="0"/>
              </a:rPr>
              <a:t>End-of-word flag: Identifies the completion of a stored word.</a:t>
            </a:r>
          </a:p>
          <a:p>
            <a:pPr marL="457200" indent="-457200">
              <a:buFont typeface="Arial" panose="020B0604020202020204" pitchFamily="34" charset="0"/>
              <a:buChar char="•"/>
            </a:pPr>
            <a:r>
              <a:rPr lang="en-US" sz="3400" dirty="0">
                <a:latin typeface="Garamond" panose="02020404030301010803" pitchFamily="18" charset="0"/>
              </a:rPr>
              <a:t>Shared prefixes: Allow related words to reuse character paths.</a:t>
            </a:r>
            <a:endParaRPr lang="en-US" sz="3400" b="1" dirty="0">
              <a:latin typeface="Garamond" panose="02020404030301010803" pitchFamily="18" charset="0"/>
            </a:endParaRPr>
          </a:p>
        </p:txBody>
      </p:sp>
      <p:pic>
        <p:nvPicPr>
          <p:cNvPr id="12" name="Picture 11" descr="A diagram of a computer system&#10;&#10;AI-generated content may be incorrect.">
            <a:extLst>
              <a:ext uri="{FF2B5EF4-FFF2-40B4-BE49-F238E27FC236}">
                <a16:creationId xmlns:a16="http://schemas.microsoft.com/office/drawing/2014/main" id="{960AAB34-4427-72C6-E99F-F35181C22C50}"/>
              </a:ext>
            </a:extLst>
          </p:cNvPr>
          <p:cNvPicPr>
            <a:picLocks noChangeAspect="1"/>
          </p:cNvPicPr>
          <p:nvPr/>
        </p:nvPicPr>
        <p:blipFill>
          <a:blip r:embed="rId8"/>
          <a:stretch>
            <a:fillRect/>
          </a:stretch>
        </p:blipFill>
        <p:spPr>
          <a:xfrm>
            <a:off x="686101" y="22062417"/>
            <a:ext cx="9938060" cy="6625373"/>
          </a:xfrm>
          <a:prstGeom prst="rect">
            <a:avLst/>
          </a:prstGeom>
        </p:spPr>
      </p:pic>
      <p:sp>
        <p:nvSpPr>
          <p:cNvPr id="13" name="TextBox 12">
            <a:extLst>
              <a:ext uri="{FF2B5EF4-FFF2-40B4-BE49-F238E27FC236}">
                <a16:creationId xmlns:a16="http://schemas.microsoft.com/office/drawing/2014/main" id="{94AA0556-167A-47A3-B3A2-9C482FC96246}"/>
              </a:ext>
            </a:extLst>
          </p:cNvPr>
          <p:cNvSpPr txBox="1"/>
          <p:nvPr/>
        </p:nvSpPr>
        <p:spPr>
          <a:xfrm>
            <a:off x="11683426" y="8049088"/>
            <a:ext cx="3916922" cy="3754874"/>
          </a:xfrm>
          <a:prstGeom prst="rect">
            <a:avLst/>
          </a:prstGeom>
          <a:noFill/>
          <a:ln>
            <a:solidFill>
              <a:schemeClr val="accent1"/>
            </a:solidFill>
          </a:ln>
        </p:spPr>
        <p:txBody>
          <a:bodyPr wrap="square" rtlCol="0">
            <a:spAutoFit/>
          </a:bodyPr>
          <a:lstStyle/>
          <a:p>
            <a:r>
              <a:rPr lang="en-US" sz="3400" b="1" dirty="0">
                <a:latin typeface="Garamond" panose="02020404030301010803" pitchFamily="18" charset="0"/>
              </a:rPr>
              <a:t>Menu Options</a:t>
            </a:r>
            <a:endParaRPr lang="en-US" sz="3400" dirty="0">
              <a:latin typeface="Garamond" panose="02020404030301010803" pitchFamily="18" charset="0"/>
            </a:endParaRPr>
          </a:p>
          <a:p>
            <a:pPr marL="514350" indent="-514350">
              <a:buFont typeface="+mj-lt"/>
              <a:buAutoNum type="arabicPeriod"/>
            </a:pPr>
            <a:r>
              <a:rPr lang="en-US" sz="3400" dirty="0">
                <a:latin typeface="Garamond" panose="02020404030301010803" pitchFamily="18" charset="0"/>
              </a:rPr>
              <a:t>Add a word</a:t>
            </a:r>
          </a:p>
          <a:p>
            <a:pPr marL="514350" indent="-514350">
              <a:buFont typeface="+mj-lt"/>
              <a:buAutoNum type="arabicPeriod"/>
            </a:pPr>
            <a:r>
              <a:rPr lang="en-US" sz="3400" dirty="0">
                <a:latin typeface="Garamond" panose="02020404030301010803" pitchFamily="18" charset="0"/>
              </a:rPr>
              <a:t>Search for a word</a:t>
            </a:r>
          </a:p>
          <a:p>
            <a:pPr marL="514350" indent="-514350">
              <a:buFont typeface="+mj-lt"/>
              <a:buAutoNum type="arabicPeriod"/>
            </a:pPr>
            <a:r>
              <a:rPr lang="en-US" sz="3400" dirty="0">
                <a:latin typeface="Garamond" panose="02020404030301010803" pitchFamily="18" charset="0"/>
              </a:rPr>
              <a:t>Autocomplete</a:t>
            </a:r>
          </a:p>
          <a:p>
            <a:pPr marL="514350" indent="-514350">
              <a:buFont typeface="+mj-lt"/>
              <a:buAutoNum type="arabicPeriod"/>
            </a:pPr>
            <a:r>
              <a:rPr lang="en-US" sz="3400" dirty="0">
                <a:latin typeface="Garamond" panose="02020404030301010803" pitchFamily="18" charset="0"/>
              </a:rPr>
              <a:t>Display all words</a:t>
            </a:r>
          </a:p>
          <a:p>
            <a:pPr marL="514350" indent="-514350">
              <a:buFont typeface="+mj-lt"/>
              <a:buAutoNum type="arabicPeriod"/>
            </a:pPr>
            <a:r>
              <a:rPr lang="en-US" sz="3400" dirty="0">
                <a:latin typeface="Garamond" panose="02020404030301010803" pitchFamily="18" charset="0"/>
              </a:rPr>
              <a:t>Remove a word</a:t>
            </a:r>
          </a:p>
          <a:p>
            <a:pPr marL="514350" indent="-514350">
              <a:buFont typeface="+mj-lt"/>
              <a:buAutoNum type="arabicPeriod"/>
            </a:pPr>
            <a:r>
              <a:rPr lang="en-US" sz="3400" dirty="0">
                <a:latin typeface="Garamond" panose="02020404030301010803" pitchFamily="18" charset="0"/>
              </a:rPr>
              <a:t>Exit</a:t>
            </a:r>
          </a:p>
        </p:txBody>
      </p:sp>
      <p:sp>
        <p:nvSpPr>
          <p:cNvPr id="16" name="TextBox 15">
            <a:extLst>
              <a:ext uri="{FF2B5EF4-FFF2-40B4-BE49-F238E27FC236}">
                <a16:creationId xmlns:a16="http://schemas.microsoft.com/office/drawing/2014/main" id="{A3EB31A5-3683-6258-F467-0947DDED5FB4}"/>
              </a:ext>
            </a:extLst>
          </p:cNvPr>
          <p:cNvSpPr txBox="1"/>
          <p:nvPr/>
        </p:nvSpPr>
        <p:spPr>
          <a:xfrm>
            <a:off x="15857978" y="7566269"/>
            <a:ext cx="5398900" cy="5016758"/>
          </a:xfrm>
          <a:prstGeom prst="rect">
            <a:avLst/>
          </a:prstGeom>
          <a:solidFill>
            <a:schemeClr val="tx1"/>
          </a:solidFill>
          <a:ln>
            <a:solidFill>
              <a:schemeClr val="accent1"/>
            </a:solidFill>
          </a:ln>
        </p:spPr>
        <p:txBody>
          <a:bodyPr wrap="square" rtlCol="0">
            <a:spAutoFit/>
          </a:bodyPr>
          <a:lstStyle/>
          <a:p>
            <a:r>
              <a:rPr lang="en-US" sz="3400" b="1" dirty="0">
                <a:latin typeface="Garamond" panose="02020404030301010803" pitchFamily="18" charset="0"/>
              </a:rPr>
              <a:t>Input Validation</a:t>
            </a:r>
            <a:endParaRPr lang="en-US" sz="3400" dirty="0">
              <a:latin typeface="Garamond" panose="02020404030301010803" pitchFamily="18" charset="0"/>
            </a:endParaRPr>
          </a:p>
          <a:p>
            <a:pPr marL="457200" indent="-457200">
              <a:buFont typeface="Arial" panose="020B0604020202020204" pitchFamily="34" charset="0"/>
              <a:buChar char="•"/>
            </a:pPr>
            <a:r>
              <a:rPr lang="en-US" sz="3400" dirty="0">
                <a:latin typeface="Garamond" panose="02020404030301010803" pitchFamily="18" charset="0"/>
              </a:rPr>
              <a:t>Rejects empty input.</a:t>
            </a:r>
          </a:p>
          <a:p>
            <a:pPr marL="457200" indent="-457200">
              <a:buFont typeface="Arial" panose="020B0604020202020204" pitchFamily="34" charset="0"/>
              <a:buChar char="•"/>
            </a:pPr>
            <a:r>
              <a:rPr lang="en-US" sz="3400" dirty="0">
                <a:latin typeface="Garamond" panose="02020404030301010803" pitchFamily="18" charset="0"/>
              </a:rPr>
              <a:t>Accepts alphabetic words.</a:t>
            </a:r>
          </a:p>
          <a:p>
            <a:pPr marL="457200" indent="-457200">
              <a:buFont typeface="Arial" panose="020B0604020202020204" pitchFamily="34" charset="0"/>
              <a:buChar char="•"/>
            </a:pPr>
            <a:r>
              <a:rPr lang="en-US" sz="3400" dirty="0">
                <a:latin typeface="Garamond" panose="02020404030301010803" pitchFamily="18" charset="0"/>
              </a:rPr>
              <a:t>Converts uppercase letters to lowercase.</a:t>
            </a:r>
          </a:p>
          <a:p>
            <a:pPr marL="457200" indent="-457200">
              <a:buFont typeface="Arial" panose="020B0604020202020204" pitchFamily="34" charset="0"/>
              <a:buChar char="•"/>
            </a:pPr>
            <a:r>
              <a:rPr lang="en-US" sz="3400" dirty="0">
                <a:latin typeface="Garamond" panose="02020404030301010803" pitchFamily="18" charset="0"/>
              </a:rPr>
              <a:t>Displays appropriate messages when a word is missing or no suggestions are available.</a:t>
            </a:r>
          </a:p>
          <a:p>
            <a:endParaRPr lang="en-US" dirty="0"/>
          </a:p>
        </p:txBody>
      </p:sp>
      <p:pic>
        <p:nvPicPr>
          <p:cNvPr id="24" name="Picture 23" descr="A screen shot of a black screen&#10;&#10;AI-generated content may be incorrect.">
            <a:extLst>
              <a:ext uri="{FF2B5EF4-FFF2-40B4-BE49-F238E27FC236}">
                <a16:creationId xmlns:a16="http://schemas.microsoft.com/office/drawing/2014/main" id="{A5B63F9C-121B-66CE-BDF9-54FF9530BE9F}"/>
              </a:ext>
            </a:extLst>
          </p:cNvPr>
          <p:cNvPicPr>
            <a:picLocks noChangeAspect="1"/>
          </p:cNvPicPr>
          <p:nvPr/>
        </p:nvPicPr>
        <p:blipFill>
          <a:blip r:embed="rId9"/>
          <a:stretch>
            <a:fillRect/>
          </a:stretch>
        </p:blipFill>
        <p:spPr>
          <a:xfrm>
            <a:off x="11487549" y="12938800"/>
            <a:ext cx="9995473" cy="5762798"/>
          </a:xfrm>
          <a:prstGeom prst="rect">
            <a:avLst/>
          </a:prstGeom>
        </p:spPr>
      </p:pic>
      <p:pic>
        <p:nvPicPr>
          <p:cNvPr id="28" name="Picture 27" descr="A screen shot of a computer&#10;&#10;AI-generated content may be incorrect.">
            <a:extLst>
              <a:ext uri="{FF2B5EF4-FFF2-40B4-BE49-F238E27FC236}">
                <a16:creationId xmlns:a16="http://schemas.microsoft.com/office/drawing/2014/main" id="{473E9C37-FEFF-B8DD-A7D1-FE09AF360FAC}"/>
              </a:ext>
            </a:extLst>
          </p:cNvPr>
          <p:cNvPicPr>
            <a:picLocks noChangeAspect="1"/>
          </p:cNvPicPr>
          <p:nvPr/>
        </p:nvPicPr>
        <p:blipFill>
          <a:blip r:embed="rId10"/>
          <a:stretch>
            <a:fillRect/>
          </a:stretch>
        </p:blipFill>
        <p:spPr>
          <a:xfrm>
            <a:off x="11481901" y="19739600"/>
            <a:ext cx="9977579" cy="8205116"/>
          </a:xfrm>
          <a:prstGeom prst="rect">
            <a:avLst/>
          </a:prstGeom>
        </p:spPr>
      </p:pic>
      <p:pic>
        <p:nvPicPr>
          <p:cNvPr id="30" name="Picture 29" descr="A menu with white text&#10;&#10;AI-generated content may be incorrect.">
            <a:extLst>
              <a:ext uri="{FF2B5EF4-FFF2-40B4-BE49-F238E27FC236}">
                <a16:creationId xmlns:a16="http://schemas.microsoft.com/office/drawing/2014/main" id="{FB4FDD12-C57A-DDDD-5AA9-938245E8E67F}"/>
              </a:ext>
            </a:extLst>
          </p:cNvPr>
          <p:cNvPicPr>
            <a:picLocks noChangeAspect="1"/>
          </p:cNvPicPr>
          <p:nvPr/>
        </p:nvPicPr>
        <p:blipFill>
          <a:blip r:embed="rId11"/>
          <a:stretch>
            <a:fillRect/>
          </a:stretch>
        </p:blipFill>
        <p:spPr>
          <a:xfrm>
            <a:off x="22277388" y="6516947"/>
            <a:ext cx="5053892" cy="4769966"/>
          </a:xfrm>
          <a:prstGeom prst="rect">
            <a:avLst/>
          </a:prstGeom>
        </p:spPr>
      </p:pic>
      <p:pic>
        <p:nvPicPr>
          <p:cNvPr id="32" name="Picture 31" descr="A black screen with white text&#10;&#10;AI-generated content may be incorrect.">
            <a:extLst>
              <a:ext uri="{FF2B5EF4-FFF2-40B4-BE49-F238E27FC236}">
                <a16:creationId xmlns:a16="http://schemas.microsoft.com/office/drawing/2014/main" id="{6B3E435E-4760-479C-EBCC-C0F9D065A3E6}"/>
              </a:ext>
            </a:extLst>
          </p:cNvPr>
          <p:cNvPicPr>
            <a:picLocks noChangeAspect="1"/>
          </p:cNvPicPr>
          <p:nvPr/>
        </p:nvPicPr>
        <p:blipFill>
          <a:blip r:embed="rId12"/>
          <a:stretch>
            <a:fillRect/>
          </a:stretch>
        </p:blipFill>
        <p:spPr>
          <a:xfrm>
            <a:off x="27359700" y="6506909"/>
            <a:ext cx="4899888" cy="4769966"/>
          </a:xfrm>
          <a:prstGeom prst="rect">
            <a:avLst/>
          </a:prstGeom>
        </p:spPr>
      </p:pic>
      <p:sp>
        <p:nvSpPr>
          <p:cNvPr id="34" name="TextBox 33">
            <a:extLst>
              <a:ext uri="{FF2B5EF4-FFF2-40B4-BE49-F238E27FC236}">
                <a16:creationId xmlns:a16="http://schemas.microsoft.com/office/drawing/2014/main" id="{5A7AD93B-E046-3062-6FB5-BD08C7020D57}"/>
              </a:ext>
            </a:extLst>
          </p:cNvPr>
          <p:cNvSpPr txBox="1"/>
          <p:nvPr/>
        </p:nvSpPr>
        <p:spPr>
          <a:xfrm>
            <a:off x="11527492" y="28166033"/>
            <a:ext cx="9938433" cy="4056990"/>
          </a:xfrm>
          <a:prstGeom prst="rect">
            <a:avLst/>
          </a:prstGeom>
          <a:noFill/>
        </p:spPr>
        <p:txBody>
          <a:bodyPr wrap="square" rtlCol="0">
            <a:spAutoFit/>
          </a:bodyPr>
          <a:lstStyle/>
          <a:p>
            <a:r>
              <a:rPr lang="en-US" sz="3400" dirty="0">
                <a:latin typeface="Garamond" panose="02020404030301010803" pitchFamily="18" charset="0"/>
              </a:rPr>
              <a:t>The Trie-based autocomplete system searches for words using a prefix entered by the user. It follows the matching character path and retrieves words that begin with that prefix. For example, entering </a:t>
            </a:r>
            <a:r>
              <a:rPr lang="en-US" sz="3400" b="1" dirty="0">
                <a:latin typeface="Garamond" panose="02020404030301010803" pitchFamily="18" charset="0"/>
              </a:rPr>
              <a:t>“comp”</a:t>
            </a:r>
            <a:r>
              <a:rPr lang="en-US" sz="3400" dirty="0">
                <a:latin typeface="Garamond" panose="02020404030301010803" pitchFamily="18" charset="0"/>
              </a:rPr>
              <a:t> produces the suggestions </a:t>
            </a:r>
            <a:r>
              <a:rPr lang="en-US" sz="3400" b="1" dirty="0">
                <a:latin typeface="Garamond" panose="02020404030301010803" pitchFamily="18" charset="0"/>
              </a:rPr>
              <a:t>compute, computer, and computing</a:t>
            </a:r>
            <a:r>
              <a:rPr lang="en-US" sz="3400" dirty="0">
                <a:latin typeface="Garamond" panose="02020404030301010803" pitchFamily="18" charset="0"/>
              </a:rPr>
              <a:t>. This demonstrates how a Trie supports efficient prefix matching and word retrieval in C++.</a:t>
            </a:r>
          </a:p>
          <a:p>
            <a:endParaRPr lang="en-US" dirty="0"/>
          </a:p>
        </p:txBody>
      </p:sp>
      <p:sp>
        <p:nvSpPr>
          <p:cNvPr id="35" name="Google Shape;82;p1">
            <a:extLst>
              <a:ext uri="{FF2B5EF4-FFF2-40B4-BE49-F238E27FC236}">
                <a16:creationId xmlns:a16="http://schemas.microsoft.com/office/drawing/2014/main" id="{C81423CF-9E04-FD58-4E24-6695AB1EAAA8}"/>
              </a:ext>
            </a:extLst>
          </p:cNvPr>
          <p:cNvSpPr/>
          <p:nvPr/>
        </p:nvSpPr>
        <p:spPr>
          <a:xfrm>
            <a:off x="22277388" y="5639508"/>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r>
              <a:rPr lang="en-US" sz="3400" b="1" dirty="0">
                <a:solidFill>
                  <a:schemeClr val="tx1"/>
                </a:solidFill>
                <a:latin typeface="Garamond" panose="02020404030301010803" pitchFamily="18" charset="0"/>
              </a:rPr>
              <a:t>Exact Word Search</a:t>
            </a:r>
            <a:endParaRPr lang="en-US" sz="3400" dirty="0">
              <a:solidFill>
                <a:schemeClr val="tx1"/>
              </a:solidFill>
              <a:latin typeface="Garamond" panose="02020404030301010803" pitchFamily="18" charset="0"/>
            </a:endParaRPr>
          </a:p>
        </p:txBody>
      </p:sp>
      <p:sp>
        <p:nvSpPr>
          <p:cNvPr id="38" name="Google Shape;82;p1">
            <a:extLst>
              <a:ext uri="{FF2B5EF4-FFF2-40B4-BE49-F238E27FC236}">
                <a16:creationId xmlns:a16="http://schemas.microsoft.com/office/drawing/2014/main" id="{BC57CFEA-4A3B-3235-1D68-A2A7C0539BA1}"/>
              </a:ext>
            </a:extLst>
          </p:cNvPr>
          <p:cNvSpPr/>
          <p:nvPr/>
        </p:nvSpPr>
        <p:spPr>
          <a:xfrm>
            <a:off x="22277388" y="11655319"/>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r>
              <a:rPr lang="en-US" sz="3400" b="1" dirty="0">
                <a:solidFill>
                  <a:schemeClr val="tx1"/>
                </a:solidFill>
                <a:latin typeface="Garamond" panose="02020404030301010803" pitchFamily="18" charset="0"/>
              </a:rPr>
              <a:t>Add and Remove a Word</a:t>
            </a:r>
            <a:endParaRPr lang="en-US" sz="3400" dirty="0">
              <a:solidFill>
                <a:schemeClr val="tx1"/>
              </a:solidFill>
              <a:latin typeface="Garamond" panose="02020404030301010803" pitchFamily="18" charset="0"/>
            </a:endParaRPr>
          </a:p>
        </p:txBody>
      </p:sp>
      <p:pic>
        <p:nvPicPr>
          <p:cNvPr id="40" name="Picture 39" descr="A black screen with white text&#10;&#10;AI-generated content may be incorrect.">
            <a:extLst>
              <a:ext uri="{FF2B5EF4-FFF2-40B4-BE49-F238E27FC236}">
                <a16:creationId xmlns:a16="http://schemas.microsoft.com/office/drawing/2014/main" id="{ED5A5275-FB93-4FE2-0666-6A300D7B7CE4}"/>
              </a:ext>
            </a:extLst>
          </p:cNvPr>
          <p:cNvPicPr>
            <a:picLocks noChangeAspect="1"/>
          </p:cNvPicPr>
          <p:nvPr/>
        </p:nvPicPr>
        <p:blipFill>
          <a:blip r:embed="rId13"/>
          <a:stretch>
            <a:fillRect/>
          </a:stretch>
        </p:blipFill>
        <p:spPr>
          <a:xfrm>
            <a:off x="22567738" y="12583027"/>
            <a:ext cx="4206621" cy="7176001"/>
          </a:xfrm>
          <a:prstGeom prst="rect">
            <a:avLst/>
          </a:prstGeom>
        </p:spPr>
      </p:pic>
      <p:pic>
        <p:nvPicPr>
          <p:cNvPr id="42" name="Picture 41" descr="A screenshot of a computer program&#10;&#10;AI-generated content may be incorrect.">
            <a:extLst>
              <a:ext uri="{FF2B5EF4-FFF2-40B4-BE49-F238E27FC236}">
                <a16:creationId xmlns:a16="http://schemas.microsoft.com/office/drawing/2014/main" id="{434142A0-0CF5-642E-49BA-949F8CC118FC}"/>
              </a:ext>
            </a:extLst>
          </p:cNvPr>
          <p:cNvPicPr>
            <a:picLocks noChangeAspect="1"/>
          </p:cNvPicPr>
          <p:nvPr/>
        </p:nvPicPr>
        <p:blipFill>
          <a:blip r:embed="rId14"/>
          <a:stretch>
            <a:fillRect/>
          </a:stretch>
        </p:blipFill>
        <p:spPr>
          <a:xfrm>
            <a:off x="27137859" y="12563599"/>
            <a:ext cx="4890209" cy="7176001"/>
          </a:xfrm>
          <a:prstGeom prst="rect">
            <a:avLst/>
          </a:prstGeom>
        </p:spPr>
      </p:pic>
      <p:sp>
        <p:nvSpPr>
          <p:cNvPr id="43" name="Google Shape;82;p1">
            <a:extLst>
              <a:ext uri="{FF2B5EF4-FFF2-40B4-BE49-F238E27FC236}">
                <a16:creationId xmlns:a16="http://schemas.microsoft.com/office/drawing/2014/main" id="{F7FD0755-BB5F-4CEE-5D9C-4A7025BA90BE}"/>
              </a:ext>
            </a:extLst>
          </p:cNvPr>
          <p:cNvSpPr/>
          <p:nvPr/>
        </p:nvSpPr>
        <p:spPr>
          <a:xfrm>
            <a:off x="22288490" y="20107436"/>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r>
              <a:rPr lang="en-US" sz="3400" b="1" dirty="0">
                <a:solidFill>
                  <a:schemeClr val="tx1"/>
                </a:solidFill>
                <a:latin typeface="Garamond" panose="02020404030301010803" pitchFamily="18" charset="0"/>
              </a:rPr>
              <a:t>Connection to AI and NLP</a:t>
            </a:r>
          </a:p>
        </p:txBody>
      </p:sp>
      <p:sp>
        <p:nvSpPr>
          <p:cNvPr id="46" name="TextBox 45">
            <a:extLst>
              <a:ext uri="{FF2B5EF4-FFF2-40B4-BE49-F238E27FC236}">
                <a16:creationId xmlns:a16="http://schemas.microsoft.com/office/drawing/2014/main" id="{3595E06B-ED67-9417-F27F-E09CFAFCFB12}"/>
              </a:ext>
            </a:extLst>
          </p:cNvPr>
          <p:cNvSpPr txBox="1"/>
          <p:nvPr/>
        </p:nvSpPr>
        <p:spPr>
          <a:xfrm>
            <a:off x="22288490" y="20835077"/>
            <a:ext cx="9971098" cy="6894195"/>
          </a:xfrm>
          <a:prstGeom prst="rect">
            <a:avLst/>
          </a:prstGeom>
          <a:noFill/>
        </p:spPr>
        <p:txBody>
          <a:bodyPr wrap="square" rtlCol="0">
            <a:spAutoFit/>
          </a:bodyPr>
          <a:lstStyle/>
          <a:p>
            <a:r>
              <a:rPr lang="en-US" sz="3400" dirty="0">
                <a:latin typeface="Garamond" panose="02020404030301010803" pitchFamily="18" charset="0"/>
              </a:rPr>
              <a:t>Trie-based autocomplete supports text-processing tasks by retrieving possible word completions from partial input. This makes it relevant to features used in search engines, predictive text, and other language-related applications.</a:t>
            </a:r>
          </a:p>
          <a:p>
            <a:r>
              <a:rPr lang="en-US" sz="3400" dirty="0">
                <a:latin typeface="Garamond" panose="02020404030301010803" pitchFamily="18" charset="0"/>
              </a:rPr>
              <a:t>The current implementation uses prefix matching rather than machine learning or contextual language prediction. However, it demonstrates how a fundamental data structure can support a component of a larger AI- or NLP-assisted system.</a:t>
            </a:r>
            <a:endParaRPr lang="en-US" sz="3400" b="1" dirty="0">
              <a:latin typeface="Garamond" panose="02020404030301010803" pitchFamily="18" charset="0"/>
            </a:endParaRPr>
          </a:p>
          <a:p>
            <a:r>
              <a:rPr lang="en-US" sz="3400" b="1" dirty="0">
                <a:latin typeface="Garamond" panose="02020404030301010803" pitchFamily="18" charset="0"/>
              </a:rPr>
              <a:t>Workflow</a:t>
            </a:r>
            <a:endParaRPr lang="en-US" sz="3400" dirty="0">
              <a:latin typeface="Garamond" panose="02020404030301010803" pitchFamily="18" charset="0"/>
            </a:endParaRPr>
          </a:p>
          <a:p>
            <a:r>
              <a:rPr lang="en-US" sz="3400" dirty="0">
                <a:latin typeface="Garamond" panose="02020404030301010803" pitchFamily="18" charset="0"/>
              </a:rPr>
              <a:t>Partial Input </a:t>
            </a:r>
            <a:r>
              <a:rPr lang="en-US" sz="3400" dirty="0">
                <a:latin typeface="Garamond" panose="02020404030301010803" pitchFamily="18" charset="0"/>
                <a:sym typeface="Wingdings" pitchFamily="2" charset="2"/>
              </a:rPr>
              <a:t></a:t>
            </a:r>
            <a:r>
              <a:rPr lang="en-US" sz="3400" dirty="0">
                <a:latin typeface="Garamond" panose="02020404030301010803" pitchFamily="18" charset="0"/>
              </a:rPr>
              <a:t> Trie Prefix Lookup </a:t>
            </a:r>
            <a:r>
              <a:rPr lang="en-US" sz="3400" dirty="0">
                <a:latin typeface="Garamond" panose="02020404030301010803" pitchFamily="18" charset="0"/>
                <a:sym typeface="Wingdings" pitchFamily="2" charset="2"/>
              </a:rPr>
              <a:t></a:t>
            </a:r>
            <a:r>
              <a:rPr lang="en-US" sz="3400" dirty="0">
                <a:latin typeface="Garamond" panose="02020404030301010803" pitchFamily="18" charset="0"/>
              </a:rPr>
              <a:t> Matching Vocabulary </a:t>
            </a:r>
            <a:r>
              <a:rPr lang="en-US" sz="3400" dirty="0">
                <a:latin typeface="Garamond" panose="02020404030301010803" pitchFamily="18" charset="0"/>
                <a:sym typeface="Wingdings" pitchFamily="2" charset="2"/>
              </a:rPr>
              <a:t></a:t>
            </a:r>
            <a:r>
              <a:rPr lang="en-US" sz="3400" dirty="0">
                <a:latin typeface="Garamond" panose="02020404030301010803" pitchFamily="18" charset="0"/>
              </a:rPr>
              <a:t> Candidate Suggestions</a:t>
            </a:r>
          </a:p>
        </p:txBody>
      </p:sp>
      <p:sp>
        <p:nvSpPr>
          <p:cNvPr id="49" name="Google Shape;82;p1">
            <a:extLst>
              <a:ext uri="{FF2B5EF4-FFF2-40B4-BE49-F238E27FC236}">
                <a16:creationId xmlns:a16="http://schemas.microsoft.com/office/drawing/2014/main" id="{E513A241-C82C-6F29-CE14-85EB07076BA1}"/>
              </a:ext>
            </a:extLst>
          </p:cNvPr>
          <p:cNvSpPr/>
          <p:nvPr/>
        </p:nvSpPr>
        <p:spPr>
          <a:xfrm>
            <a:off x="22288490" y="27876383"/>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r>
              <a:rPr lang="en-US" sz="3400" b="1" dirty="0">
                <a:solidFill>
                  <a:schemeClr val="tx1"/>
                </a:solidFill>
                <a:latin typeface="Garamond" panose="02020404030301010803" pitchFamily="18" charset="0"/>
              </a:rPr>
              <a:t>Real-World Applications</a:t>
            </a:r>
          </a:p>
        </p:txBody>
      </p:sp>
      <p:sp>
        <p:nvSpPr>
          <p:cNvPr id="50" name="TextBox 49">
            <a:extLst>
              <a:ext uri="{FF2B5EF4-FFF2-40B4-BE49-F238E27FC236}">
                <a16:creationId xmlns:a16="http://schemas.microsoft.com/office/drawing/2014/main" id="{3B69A1FA-A57E-5E7D-049F-D560232DE6C0}"/>
              </a:ext>
            </a:extLst>
          </p:cNvPr>
          <p:cNvSpPr txBox="1"/>
          <p:nvPr/>
        </p:nvSpPr>
        <p:spPr>
          <a:xfrm>
            <a:off x="22288490" y="28455683"/>
            <a:ext cx="9971098" cy="3970318"/>
          </a:xfrm>
          <a:prstGeom prst="rect">
            <a:avLst/>
          </a:prstGeom>
          <a:noFill/>
        </p:spPr>
        <p:txBody>
          <a:bodyPr wrap="square" rtlCol="0">
            <a:spAutoFit/>
          </a:bodyPr>
          <a:lstStyle/>
          <a:p>
            <a:r>
              <a:rPr lang="en-US" sz="3400" dirty="0">
                <a:latin typeface="Garamond" panose="02020404030301010803" pitchFamily="18" charset="0"/>
              </a:rPr>
              <a:t>Trie data structures are used in applications such as search autocomplete, predictive text on mobile devices, dictionary lookup, and spell-checking support. They also help perform prefix-based word searches and organize vocabulary efficiently. These applications demonstrate how Tries can improve word retrieval and support text-processing systems.</a:t>
            </a:r>
          </a:p>
          <a:p>
            <a:endParaRPr lang="en-US" dirty="0"/>
          </a:p>
        </p:txBody>
      </p:sp>
      <p:pic>
        <p:nvPicPr>
          <p:cNvPr id="56" name="Picture 55" descr="A screenshot of a computer program&#10;&#10;AI-generated content may be incorrect.">
            <a:extLst>
              <a:ext uri="{FF2B5EF4-FFF2-40B4-BE49-F238E27FC236}">
                <a16:creationId xmlns:a16="http://schemas.microsoft.com/office/drawing/2014/main" id="{1F36C3F3-18A0-47F3-FEFE-28EDD19708C7}"/>
              </a:ext>
            </a:extLst>
          </p:cNvPr>
          <p:cNvPicPr>
            <a:picLocks noChangeAspect="1"/>
          </p:cNvPicPr>
          <p:nvPr/>
        </p:nvPicPr>
        <p:blipFill>
          <a:blip r:embed="rId15"/>
          <a:stretch>
            <a:fillRect/>
          </a:stretch>
        </p:blipFill>
        <p:spPr>
          <a:xfrm>
            <a:off x="33066906" y="6389837"/>
            <a:ext cx="9975094" cy="6252270"/>
          </a:xfrm>
          <a:prstGeom prst="rect">
            <a:avLst/>
          </a:prstGeom>
        </p:spPr>
      </p:pic>
      <p:pic>
        <p:nvPicPr>
          <p:cNvPr id="66" name="Picture 65" descr="A screen shot of a computer&#10;&#10;AI-generated content may be incorrect.">
            <a:extLst>
              <a:ext uri="{FF2B5EF4-FFF2-40B4-BE49-F238E27FC236}">
                <a16:creationId xmlns:a16="http://schemas.microsoft.com/office/drawing/2014/main" id="{2FAB4A1E-4000-4DB1-95FF-C57254C2FCC6}"/>
              </a:ext>
            </a:extLst>
          </p:cNvPr>
          <p:cNvPicPr>
            <a:picLocks noChangeAspect="1"/>
          </p:cNvPicPr>
          <p:nvPr/>
        </p:nvPicPr>
        <p:blipFill>
          <a:blip r:embed="rId16"/>
          <a:stretch>
            <a:fillRect/>
          </a:stretch>
        </p:blipFill>
        <p:spPr>
          <a:xfrm>
            <a:off x="33099701" y="13682629"/>
            <a:ext cx="9899616" cy="4976796"/>
          </a:xfrm>
          <a:prstGeom prst="rect">
            <a:avLst/>
          </a:prstGeom>
        </p:spPr>
      </p:pic>
      <p:pic>
        <p:nvPicPr>
          <p:cNvPr id="68" name="Picture 67" descr="A black square with a white arrow and a white line&#10;&#10;AI-generated content may be incorrect.">
            <a:extLst>
              <a:ext uri="{FF2B5EF4-FFF2-40B4-BE49-F238E27FC236}">
                <a16:creationId xmlns:a16="http://schemas.microsoft.com/office/drawing/2014/main" id="{4508F998-8EE5-A858-00A0-F0A278B84569}"/>
              </a:ext>
            </a:extLst>
          </p:cNvPr>
          <p:cNvPicPr>
            <a:picLocks noChangeAspect="1"/>
          </p:cNvPicPr>
          <p:nvPr/>
        </p:nvPicPr>
        <p:blipFill>
          <a:blip r:embed="rId17"/>
          <a:stretch>
            <a:fillRect/>
          </a:stretch>
        </p:blipFill>
        <p:spPr>
          <a:xfrm>
            <a:off x="4646613" y="29739375"/>
            <a:ext cx="2200276" cy="2200276"/>
          </a:xfrm>
          <a:prstGeom prst="rect">
            <a:avLst/>
          </a:prstGeom>
        </p:spPr>
      </p:pic>
      <p:sp>
        <p:nvSpPr>
          <p:cNvPr id="69" name="Google Shape;84;p1">
            <a:extLst>
              <a:ext uri="{FF2B5EF4-FFF2-40B4-BE49-F238E27FC236}">
                <a16:creationId xmlns:a16="http://schemas.microsoft.com/office/drawing/2014/main" id="{840CD368-E9EC-D4E5-1829-89977ABC08D5}"/>
              </a:ext>
            </a:extLst>
          </p:cNvPr>
          <p:cNvSpPr/>
          <p:nvPr/>
        </p:nvSpPr>
        <p:spPr>
          <a:xfrm>
            <a:off x="33058409" y="18863143"/>
            <a:ext cx="9982200" cy="579300"/>
          </a:xfrm>
          <a:prstGeom prst="rect">
            <a:avLst/>
          </a:prstGeom>
          <a:solidFill>
            <a:schemeClr val="bg2">
              <a:lumMod val="90000"/>
              <a:lumOff val="10000"/>
            </a:schemeClr>
          </a:solidFill>
          <a:ln>
            <a:noFill/>
          </a:ln>
        </p:spPr>
        <p:txBody>
          <a:bodyPr spcFirstLastPara="1" wrap="square" lIns="45600" tIns="45600" rIns="45600" bIns="45600" anchor="t" anchorCtr="0">
            <a:noAutofit/>
          </a:bodyPr>
          <a:lstStyle/>
          <a:p>
            <a:pPr algn="ctr">
              <a:buSzPts val="3200"/>
            </a:pPr>
            <a:r>
              <a:rPr lang="en-US" sz="3400" b="1" dirty="0">
                <a:solidFill>
                  <a:schemeClr val="tx1"/>
                </a:solidFill>
                <a:latin typeface="Garamond" panose="02020404030301010803" pitchFamily="18" charset="0"/>
              </a:rPr>
              <a:t>Advantages and Limitations</a:t>
            </a:r>
          </a:p>
        </p:txBody>
      </p:sp>
      <p:sp>
        <p:nvSpPr>
          <p:cNvPr id="71" name="TextBox 70">
            <a:extLst>
              <a:ext uri="{FF2B5EF4-FFF2-40B4-BE49-F238E27FC236}">
                <a16:creationId xmlns:a16="http://schemas.microsoft.com/office/drawing/2014/main" id="{5A607F64-15C1-15B5-3B9B-FBB0FF7FAE1F}"/>
              </a:ext>
            </a:extLst>
          </p:cNvPr>
          <p:cNvSpPr txBox="1"/>
          <p:nvPr/>
        </p:nvSpPr>
        <p:spPr>
          <a:xfrm>
            <a:off x="33140993" y="19691286"/>
            <a:ext cx="9899616" cy="7109639"/>
          </a:xfrm>
          <a:prstGeom prst="rect">
            <a:avLst/>
          </a:prstGeom>
          <a:noFill/>
        </p:spPr>
        <p:txBody>
          <a:bodyPr wrap="square" rtlCol="0">
            <a:spAutoFit/>
          </a:bodyPr>
          <a:lstStyle/>
          <a:p>
            <a:r>
              <a:rPr lang="en-US" sz="3400" b="1" dirty="0">
                <a:latin typeface="Garamond" panose="02020404030301010803" pitchFamily="18" charset="0"/>
              </a:rPr>
              <a:t>Advantages</a:t>
            </a:r>
          </a:p>
          <a:p>
            <a:pPr marL="457200" indent="-457200">
              <a:buFont typeface="Arial" panose="020B0604020202020204" pitchFamily="34" charset="0"/>
              <a:buChar char="•"/>
            </a:pPr>
            <a:r>
              <a:rPr lang="en-US" sz="3400" dirty="0">
                <a:latin typeface="Garamond" panose="02020404030301010803" pitchFamily="18" charset="0"/>
              </a:rPr>
              <a:t>Efficient exact-word and prefix searching.</a:t>
            </a:r>
          </a:p>
          <a:p>
            <a:pPr marL="457200" indent="-457200">
              <a:buFont typeface="Arial" panose="020B0604020202020204" pitchFamily="34" charset="0"/>
              <a:buChar char="•"/>
            </a:pPr>
            <a:r>
              <a:rPr lang="en-US" sz="3400" dirty="0">
                <a:latin typeface="Garamond" panose="02020404030301010803" pitchFamily="18" charset="0"/>
              </a:rPr>
              <a:t>Shared paths reduce repeated prefix storage.</a:t>
            </a:r>
          </a:p>
          <a:p>
            <a:pPr marL="457200" indent="-457200">
              <a:buFont typeface="Arial" panose="020B0604020202020204" pitchFamily="34" charset="0"/>
              <a:buChar char="•"/>
            </a:pPr>
            <a:r>
              <a:rPr lang="en-US" sz="3400" dirty="0">
                <a:latin typeface="Garamond" panose="02020404030301010803" pitchFamily="18" charset="0"/>
              </a:rPr>
              <a:t>Supports insertion, search, autocomplete, display, and removal.</a:t>
            </a:r>
          </a:p>
          <a:p>
            <a:pPr marL="457200" indent="-457200">
              <a:buFont typeface="Arial" panose="020B0604020202020204" pitchFamily="34" charset="0"/>
              <a:buChar char="•"/>
            </a:pPr>
            <a:r>
              <a:rPr lang="en-US" sz="3400" dirty="0">
                <a:latin typeface="Garamond" panose="02020404030301010803" pitchFamily="18" charset="0"/>
              </a:rPr>
              <a:t>Simple and organized C++ implementation.</a:t>
            </a:r>
          </a:p>
          <a:p>
            <a:endParaRPr lang="en-US" sz="3400" b="1" dirty="0">
              <a:latin typeface="Garamond" panose="02020404030301010803" pitchFamily="18" charset="0"/>
            </a:endParaRPr>
          </a:p>
          <a:p>
            <a:r>
              <a:rPr lang="en-US" sz="3400" b="1" dirty="0">
                <a:latin typeface="Garamond" panose="02020404030301010803" pitchFamily="18" charset="0"/>
              </a:rPr>
              <a:t>Limitations</a:t>
            </a:r>
          </a:p>
          <a:p>
            <a:pPr marL="457200" indent="-457200">
              <a:buFont typeface="Arial" panose="020B0604020202020204" pitchFamily="34" charset="0"/>
              <a:buChar char="•"/>
            </a:pPr>
            <a:r>
              <a:rPr lang="en-US" sz="3400" dirty="0">
                <a:latin typeface="Garamond" panose="02020404030301010803" pitchFamily="18" charset="0"/>
              </a:rPr>
              <a:t>Requires additional memory for child pointers.</a:t>
            </a:r>
          </a:p>
          <a:p>
            <a:pPr marL="457200" indent="-457200">
              <a:buFont typeface="Arial" panose="020B0604020202020204" pitchFamily="34" charset="0"/>
              <a:buChar char="•"/>
            </a:pPr>
            <a:r>
              <a:rPr lang="en-US" sz="3400" dirty="0">
                <a:latin typeface="Garamond" panose="02020404030301010803" pitchFamily="18" charset="0"/>
              </a:rPr>
              <a:t>Supports alphabetic English input only.</a:t>
            </a:r>
          </a:p>
          <a:p>
            <a:pPr marL="457200" indent="-457200">
              <a:buFont typeface="Arial" panose="020B0604020202020204" pitchFamily="34" charset="0"/>
              <a:buChar char="•"/>
            </a:pPr>
            <a:r>
              <a:rPr lang="en-US" sz="3400" dirty="0">
                <a:latin typeface="Garamond" panose="02020404030301010803" pitchFamily="18" charset="0"/>
              </a:rPr>
              <a:t>Does not rank suggestions by frequency or relevance.</a:t>
            </a:r>
          </a:p>
          <a:p>
            <a:pPr marL="457200" indent="-457200">
              <a:buFont typeface="Arial" panose="020B0604020202020204" pitchFamily="34" charset="0"/>
              <a:buChar char="•"/>
            </a:pPr>
            <a:r>
              <a:rPr lang="en-US" sz="3400" dirty="0">
                <a:latin typeface="Garamond" panose="02020404030301010803" pitchFamily="18" charset="0"/>
              </a:rPr>
              <a:t>Cannot understand sentence context or user intent.</a:t>
            </a:r>
          </a:p>
          <a:p>
            <a:pPr marL="457200" indent="-457200">
              <a:buFont typeface="Arial" panose="020B0604020202020204" pitchFamily="34" charset="0"/>
              <a:buChar char="•"/>
            </a:pPr>
            <a:r>
              <a:rPr lang="en-US" sz="3400" dirty="0">
                <a:latin typeface="Garamond" panose="02020404030301010803" pitchFamily="18" charset="0"/>
              </a:rPr>
              <a:t>Large vocabularies may require optimization.</a:t>
            </a:r>
          </a:p>
          <a:p>
            <a:endParaRPr lang="en-US" dirty="0"/>
          </a:p>
        </p:txBody>
      </p:sp>
    </p:spTree>
  </p:cSld>
  <p:clrMapOvr>
    <a:masterClrMapping/>
  </p:clrMapOvr>
</p:sld>
</file>

<file path=ppt/theme/theme1.xml><?xml version="1.0" encoding="utf-8"?>
<a:theme xmlns:a="http://schemas.openxmlformats.org/drawingml/2006/main" name="1_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1442</TotalTime>
  <Words>648</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 Black</vt:lpstr>
      <vt:lpstr>Garamond</vt:lpstr>
      <vt:lpstr>Helvetica Neue</vt:lpstr>
      <vt:lpstr>Arial</vt:lpstr>
      <vt:lpstr>Times New Roman</vt:lpstr>
      <vt:lpstr>1_Default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Govindaswamy, Victor</dc:creator>
  <cp:lastModifiedBy>Desai, Arya Shaileshbhai</cp:lastModifiedBy>
  <cp:revision>20</cp:revision>
  <dcterms:modified xsi:type="dcterms:W3CDTF">2026-10-29T21:39:23Z</dcterms:modified>
</cp:coreProperties>
</file>